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Raleway"/>
      <p:regular r:id="rId20"/>
      <p:bold r:id="rId21"/>
      <p:italic r:id="rId22"/>
      <p:boldItalic r:id="rId23"/>
    </p:embeddedFont>
    <p:embeddedFont>
      <p:font typeface="Roboto"/>
      <p:regular r:id="rId24"/>
      <p:bold r:id="rId25"/>
      <p:italic r:id="rId26"/>
      <p:boldItalic r:id="rId27"/>
    </p:embeddedFont>
    <p:embeddedFont>
      <p:font typeface="Lato"/>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Roboto-regular.fntdata"/><Relationship Id="rId23"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Lato-regular.fntdata"/><Relationship Id="rId27"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at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7.xml"/><Relationship Id="rId33" Type="http://schemas.openxmlformats.org/officeDocument/2006/relationships/font" Target="fonts/RobotoMono-bold.fntdata"/><Relationship Id="rId10" Type="http://schemas.openxmlformats.org/officeDocument/2006/relationships/slide" Target="slides/slide6.xml"/><Relationship Id="rId32" Type="http://schemas.openxmlformats.org/officeDocument/2006/relationships/font" Target="fonts/RobotoMono-regular.fntdata"/><Relationship Id="rId13" Type="http://schemas.openxmlformats.org/officeDocument/2006/relationships/slide" Target="slides/slide9.xml"/><Relationship Id="rId35" Type="http://schemas.openxmlformats.org/officeDocument/2006/relationships/font" Target="fonts/RobotoMono-boldItalic.fntdata"/><Relationship Id="rId12" Type="http://schemas.openxmlformats.org/officeDocument/2006/relationships/slide" Target="slides/slide8.xml"/><Relationship Id="rId34" Type="http://schemas.openxmlformats.org/officeDocument/2006/relationships/font" Target="fonts/RobotoMono-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5e1a32238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5e1a32238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6da284c7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6da284c7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6da284c7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6da284c7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6da284c7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6da284c7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6da284c7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6da284c7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6da284c7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6da284c7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6da284c7c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6da284c7c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6da284c7c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6da284c7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6da284c7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86da284c7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5d6687569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5d6687569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ded7c7e00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cded7c7e00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ded7c7e00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ded7c7e00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ded7c7e00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ded7c7e00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ded7c7e00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cded7c7e00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O que é, para que serve e quais são os seus comandos?</a:t>
            </a:r>
            <a:endParaRPr/>
          </a:p>
        </p:txBody>
      </p:sp>
      <p:sp>
        <p:nvSpPr>
          <p:cNvPr id="87" name="Google Shape;87;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HTML</a:t>
            </a:r>
            <a:endParaRPr/>
          </a:p>
          <a:p>
            <a:pPr indent="0" lvl="0" marL="0" rtl="0" algn="l">
              <a:spcBef>
                <a:spcPts val="0"/>
              </a:spcBef>
              <a:spcAft>
                <a:spcPts val="0"/>
              </a:spcAft>
              <a:buNone/>
            </a:pPr>
            <a:r>
              <a:rPr lang="pt-BR"/>
              <a:t>e suas aplicações</a:t>
            </a:r>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idx="1" type="body"/>
          </p:nvPr>
        </p:nvSpPr>
        <p:spPr>
          <a:xfrm>
            <a:off x="727800" y="1321975"/>
            <a:ext cx="3879900" cy="3449400"/>
          </a:xfrm>
          <a:prstGeom prst="rect">
            <a:avLst/>
          </a:prstGeom>
        </p:spPr>
        <p:txBody>
          <a:bodyPr anchorCtr="0" anchor="t" bIns="91425" lIns="91425" spcFirstLastPara="1" rIns="91425" wrap="square" tIns="91425">
            <a:noAutofit/>
          </a:bodyPr>
          <a:lstStyle/>
          <a:p>
            <a:pPr indent="-342900" lvl="0" marL="457200" rtl="0" algn="l">
              <a:lnSpc>
                <a:spcPct val="80000"/>
              </a:lnSpc>
              <a:spcBef>
                <a:spcPts val="0"/>
              </a:spcBef>
              <a:spcAft>
                <a:spcPts val="0"/>
              </a:spcAft>
              <a:buClr>
                <a:schemeClr val="dk1"/>
              </a:buClr>
              <a:buSzPts val="1800"/>
              <a:buFont typeface="Raleway"/>
              <a:buChar char="●"/>
            </a:pPr>
            <a:r>
              <a:rPr b="1" lang="pt-BR" sz="1800">
                <a:solidFill>
                  <a:schemeClr val="dk1"/>
                </a:solidFill>
                <a:latin typeface="Raleway"/>
                <a:ea typeface="Raleway"/>
                <a:cs typeface="Raleway"/>
                <a:sym typeface="Raleway"/>
              </a:rPr>
              <a:t>O que significa (HTML5)?</a:t>
            </a:r>
            <a:endParaRPr b="1" sz="1800">
              <a:solidFill>
                <a:schemeClr val="dk1"/>
              </a:solidFill>
              <a:latin typeface="Raleway"/>
              <a:ea typeface="Raleway"/>
              <a:cs typeface="Raleway"/>
              <a:sym typeface="Raleway"/>
            </a:endParaRPr>
          </a:p>
          <a:p>
            <a:pPr indent="0" lvl="0" marL="0" rtl="0" algn="l">
              <a:lnSpc>
                <a:spcPct val="80000"/>
              </a:lnSpc>
              <a:spcBef>
                <a:spcPts val="0"/>
              </a:spcBef>
              <a:spcAft>
                <a:spcPts val="0"/>
              </a:spcAft>
              <a:buSzPts val="935"/>
              <a:buNone/>
            </a:pPr>
            <a:r>
              <a:t/>
            </a:r>
            <a:endParaRPr b="1" sz="1800">
              <a:solidFill>
                <a:schemeClr val="dk1"/>
              </a:solidFill>
              <a:latin typeface="Raleway"/>
              <a:ea typeface="Raleway"/>
              <a:cs typeface="Raleway"/>
              <a:sym typeface="Raleway"/>
            </a:endParaRPr>
          </a:p>
          <a:p>
            <a:pPr indent="-342900" lvl="1" marL="914400" rtl="0" algn="l">
              <a:lnSpc>
                <a:spcPct val="80000"/>
              </a:lnSpc>
              <a:spcBef>
                <a:spcPts val="0"/>
              </a:spcBef>
              <a:spcAft>
                <a:spcPts val="0"/>
              </a:spcAft>
              <a:buClr>
                <a:schemeClr val="dk1"/>
              </a:buClr>
              <a:buSzPts val="1800"/>
              <a:buFont typeface="Arial"/>
              <a:buChar char="○"/>
            </a:pPr>
            <a:r>
              <a:rPr b="1" i="1" lang="pt-BR" sz="1800">
                <a:solidFill>
                  <a:schemeClr val="dk1"/>
                </a:solidFill>
                <a:latin typeface="Arial"/>
                <a:ea typeface="Arial"/>
                <a:cs typeface="Arial"/>
                <a:sym typeface="Arial"/>
              </a:rPr>
              <a:t>Elementos e Tags</a:t>
            </a:r>
            <a:endParaRPr i="1" sz="1800">
              <a:solidFill>
                <a:schemeClr val="dk1"/>
              </a:solidFill>
              <a:latin typeface="Arial"/>
              <a:ea typeface="Arial"/>
              <a:cs typeface="Arial"/>
              <a:sym typeface="Arial"/>
            </a:endParaRPr>
          </a:p>
          <a:p>
            <a:pPr indent="-342900" lvl="1" marL="914400" rtl="0" algn="l">
              <a:lnSpc>
                <a:spcPct val="80000"/>
              </a:lnSpc>
              <a:spcBef>
                <a:spcPts val="0"/>
              </a:spcBef>
              <a:spcAft>
                <a:spcPts val="0"/>
              </a:spcAft>
              <a:buClr>
                <a:schemeClr val="dk1"/>
              </a:buClr>
              <a:buSzPts val="1800"/>
              <a:buFont typeface="Arial"/>
              <a:buChar char="○"/>
            </a:pPr>
            <a:r>
              <a:rPr b="1" i="1" lang="pt-BR" sz="1800">
                <a:solidFill>
                  <a:schemeClr val="dk1"/>
                </a:solidFill>
                <a:latin typeface="Arial"/>
                <a:ea typeface="Arial"/>
                <a:cs typeface="Arial"/>
                <a:sym typeface="Arial"/>
              </a:rPr>
              <a:t>Hipertexto</a:t>
            </a:r>
            <a:endParaRPr b="1" i="1" sz="1800">
              <a:solidFill>
                <a:schemeClr val="dk1"/>
              </a:solidFill>
              <a:latin typeface="Arial"/>
              <a:ea typeface="Arial"/>
              <a:cs typeface="Arial"/>
              <a:sym typeface="Arial"/>
            </a:endParaRPr>
          </a:p>
          <a:p>
            <a:pPr indent="-342900" lvl="1" marL="914400" rtl="0" algn="l">
              <a:lnSpc>
                <a:spcPct val="80000"/>
              </a:lnSpc>
              <a:spcBef>
                <a:spcPts val="0"/>
              </a:spcBef>
              <a:spcAft>
                <a:spcPts val="0"/>
              </a:spcAft>
              <a:buClr>
                <a:schemeClr val="dk1"/>
              </a:buClr>
              <a:buSzPts val="1800"/>
              <a:buFont typeface="Arial"/>
              <a:buChar char="○"/>
            </a:pPr>
            <a:r>
              <a:rPr b="1" i="1" lang="pt-BR" sz="1800">
                <a:solidFill>
                  <a:schemeClr val="dk1"/>
                </a:solidFill>
                <a:highlight>
                  <a:schemeClr val="lt1"/>
                </a:highlight>
                <a:latin typeface="Arial"/>
                <a:ea typeface="Arial"/>
                <a:cs typeface="Arial"/>
                <a:sym typeface="Arial"/>
              </a:rPr>
              <a:t>Semântica</a:t>
            </a:r>
            <a:endParaRPr b="1" i="1" sz="1800">
              <a:solidFill>
                <a:schemeClr val="dk1"/>
              </a:solidFill>
              <a:highlight>
                <a:schemeClr val="lt1"/>
              </a:highlight>
              <a:latin typeface="Arial"/>
              <a:ea typeface="Arial"/>
              <a:cs typeface="Arial"/>
              <a:sym typeface="Arial"/>
            </a:endParaRPr>
          </a:p>
          <a:p>
            <a:pPr indent="-342900" lvl="1" marL="914400" rtl="0" algn="l">
              <a:lnSpc>
                <a:spcPct val="80000"/>
              </a:lnSpc>
              <a:spcBef>
                <a:spcPts val="0"/>
              </a:spcBef>
              <a:spcAft>
                <a:spcPts val="0"/>
              </a:spcAft>
              <a:buClr>
                <a:schemeClr val="dk1"/>
              </a:buClr>
              <a:buSzPts val="1800"/>
              <a:buFont typeface="Arial"/>
              <a:buChar char="○"/>
            </a:pPr>
            <a:r>
              <a:rPr b="1" i="1" lang="pt-BR" sz="1800">
                <a:solidFill>
                  <a:schemeClr val="dk1"/>
                </a:solidFill>
                <a:latin typeface="Arial"/>
                <a:ea typeface="Arial"/>
                <a:cs typeface="Arial"/>
                <a:sym typeface="Arial"/>
              </a:rPr>
              <a:t>Diferenciação</a:t>
            </a:r>
            <a:endParaRPr b="1" i="1" sz="1800">
              <a:solidFill>
                <a:schemeClr val="dk1"/>
              </a:solidFill>
              <a:latin typeface="Arial"/>
              <a:ea typeface="Arial"/>
              <a:cs typeface="Arial"/>
              <a:sym typeface="Arial"/>
            </a:endParaRPr>
          </a:p>
          <a:p>
            <a:pPr indent="0" lvl="0" marL="0" rtl="0" algn="l">
              <a:lnSpc>
                <a:spcPct val="80000"/>
              </a:lnSpc>
              <a:spcBef>
                <a:spcPts val="0"/>
              </a:spcBef>
              <a:spcAft>
                <a:spcPts val="0"/>
              </a:spcAft>
              <a:buSzPts val="935"/>
              <a:buNone/>
            </a:pPr>
            <a:r>
              <a:t/>
            </a:r>
            <a:endParaRPr b="1" sz="1800">
              <a:solidFill>
                <a:schemeClr val="dk1"/>
              </a:solidFill>
              <a:latin typeface="Arial"/>
              <a:ea typeface="Arial"/>
              <a:cs typeface="Arial"/>
              <a:sym typeface="Arial"/>
            </a:endParaRPr>
          </a:p>
          <a:p>
            <a:pPr indent="-342900" lvl="0" marL="457200" rtl="0" algn="l">
              <a:lnSpc>
                <a:spcPct val="80000"/>
              </a:lnSpc>
              <a:spcBef>
                <a:spcPts val="0"/>
              </a:spcBef>
              <a:spcAft>
                <a:spcPts val="0"/>
              </a:spcAft>
              <a:buClr>
                <a:schemeClr val="dk1"/>
              </a:buClr>
              <a:buSzPts val="1800"/>
              <a:buFont typeface="Raleway"/>
              <a:buChar char="●"/>
            </a:pPr>
            <a:r>
              <a:rPr b="1" lang="pt-BR" sz="1800">
                <a:solidFill>
                  <a:schemeClr val="dk1"/>
                </a:solidFill>
                <a:highlight>
                  <a:schemeClr val="lt1"/>
                </a:highlight>
                <a:latin typeface="Raleway"/>
                <a:ea typeface="Raleway"/>
                <a:cs typeface="Raleway"/>
                <a:sym typeface="Raleway"/>
              </a:rPr>
              <a:t>Detalhe dos mecanismos fundamentais de seu funcionamento:</a:t>
            </a:r>
            <a:endParaRPr b="1" sz="1983">
              <a:solidFill>
                <a:schemeClr val="dk1"/>
              </a:solidFill>
              <a:latin typeface="Raleway"/>
              <a:ea typeface="Raleway"/>
              <a:cs typeface="Raleway"/>
              <a:sym typeface="Raleway"/>
            </a:endParaRPr>
          </a:p>
          <a:p>
            <a:pPr indent="0" lvl="0" marL="457200" rtl="0" algn="l">
              <a:lnSpc>
                <a:spcPct val="80000"/>
              </a:lnSpc>
              <a:spcBef>
                <a:spcPts val="0"/>
              </a:spcBef>
              <a:spcAft>
                <a:spcPts val="0"/>
              </a:spcAft>
              <a:buSzPts val="935"/>
              <a:buNone/>
            </a:pPr>
            <a:r>
              <a:t/>
            </a:r>
            <a:endParaRPr b="1" sz="1800">
              <a:solidFill>
                <a:schemeClr val="dk1"/>
              </a:solidFill>
              <a:latin typeface="Raleway"/>
              <a:ea typeface="Raleway"/>
              <a:cs typeface="Raleway"/>
              <a:sym typeface="Raleway"/>
            </a:endParaRPr>
          </a:p>
          <a:p>
            <a:pPr indent="-342900" lvl="1" marL="914400" rtl="0" algn="l">
              <a:lnSpc>
                <a:spcPct val="80000"/>
              </a:lnSpc>
              <a:spcBef>
                <a:spcPts val="0"/>
              </a:spcBef>
              <a:spcAft>
                <a:spcPts val="0"/>
              </a:spcAft>
              <a:buClr>
                <a:schemeClr val="dk1"/>
              </a:buClr>
              <a:buSzPts val="1800"/>
              <a:buFont typeface="Arial"/>
              <a:buChar char="○"/>
            </a:pPr>
            <a:r>
              <a:rPr b="1" i="1" lang="pt-BR" sz="1800">
                <a:solidFill>
                  <a:schemeClr val="dk1"/>
                </a:solidFill>
                <a:highlight>
                  <a:schemeClr val="lt1"/>
                </a:highlight>
                <a:latin typeface="Arial"/>
                <a:ea typeface="Arial"/>
                <a:cs typeface="Arial"/>
                <a:sym typeface="Arial"/>
              </a:rPr>
              <a:t>Tag de abertura</a:t>
            </a:r>
            <a:endParaRPr b="1" i="1" sz="1800">
              <a:solidFill>
                <a:schemeClr val="dk1"/>
              </a:solidFill>
              <a:highlight>
                <a:schemeClr val="lt1"/>
              </a:highlight>
              <a:latin typeface="Arial"/>
              <a:ea typeface="Arial"/>
              <a:cs typeface="Arial"/>
              <a:sym typeface="Arial"/>
            </a:endParaRPr>
          </a:p>
          <a:p>
            <a:pPr indent="-342900" lvl="1" marL="914400" rtl="0" algn="l">
              <a:lnSpc>
                <a:spcPct val="80000"/>
              </a:lnSpc>
              <a:spcBef>
                <a:spcPts val="0"/>
              </a:spcBef>
              <a:spcAft>
                <a:spcPts val="0"/>
              </a:spcAft>
              <a:buClr>
                <a:schemeClr val="dk1"/>
              </a:buClr>
              <a:buSzPts val="1800"/>
              <a:buFont typeface="Arial"/>
              <a:buChar char="○"/>
            </a:pPr>
            <a:r>
              <a:rPr b="1" i="1" lang="pt-BR" sz="1800">
                <a:solidFill>
                  <a:schemeClr val="dk1"/>
                </a:solidFill>
                <a:highlight>
                  <a:schemeClr val="lt1"/>
                </a:highlight>
                <a:latin typeface="Arial"/>
                <a:ea typeface="Arial"/>
                <a:cs typeface="Arial"/>
                <a:sym typeface="Arial"/>
              </a:rPr>
              <a:t>Tag de fechamento</a:t>
            </a:r>
            <a:endParaRPr b="1" i="1" sz="1800">
              <a:solidFill>
                <a:schemeClr val="dk1"/>
              </a:solidFill>
              <a:highlight>
                <a:schemeClr val="lt1"/>
              </a:highlight>
              <a:latin typeface="Arial"/>
              <a:ea typeface="Arial"/>
              <a:cs typeface="Arial"/>
              <a:sym typeface="Arial"/>
            </a:endParaRPr>
          </a:p>
          <a:p>
            <a:pPr indent="-353694" lvl="1" marL="914400" rtl="0" algn="l">
              <a:lnSpc>
                <a:spcPct val="80000"/>
              </a:lnSpc>
              <a:spcBef>
                <a:spcPts val="0"/>
              </a:spcBef>
              <a:spcAft>
                <a:spcPts val="0"/>
              </a:spcAft>
              <a:buClr>
                <a:schemeClr val="dk1"/>
              </a:buClr>
              <a:buSzPts val="1970"/>
              <a:buFont typeface="Arial"/>
              <a:buChar char="○"/>
            </a:pPr>
            <a:r>
              <a:rPr b="1" i="1" lang="pt-BR" sz="1800">
                <a:solidFill>
                  <a:schemeClr val="dk1"/>
                </a:solidFill>
                <a:highlight>
                  <a:schemeClr val="lt1"/>
                </a:highlight>
                <a:latin typeface="Arial"/>
                <a:ea typeface="Arial"/>
                <a:cs typeface="Arial"/>
                <a:sym typeface="Arial"/>
              </a:rPr>
              <a:t>Conteúdo</a:t>
            </a:r>
            <a:endParaRPr b="1" i="1" sz="1800">
              <a:solidFill>
                <a:schemeClr val="dk1"/>
              </a:solidFill>
              <a:highlight>
                <a:schemeClr val="lt1"/>
              </a:highlight>
              <a:latin typeface="Arial"/>
              <a:ea typeface="Arial"/>
              <a:cs typeface="Arial"/>
              <a:sym typeface="Arial"/>
            </a:endParaRPr>
          </a:p>
          <a:p>
            <a:pPr indent="-342900" lvl="1" marL="914400" rtl="0" algn="l">
              <a:lnSpc>
                <a:spcPct val="80000"/>
              </a:lnSpc>
              <a:spcBef>
                <a:spcPts val="0"/>
              </a:spcBef>
              <a:spcAft>
                <a:spcPts val="0"/>
              </a:spcAft>
              <a:buClr>
                <a:schemeClr val="dk1"/>
              </a:buClr>
              <a:buSzPts val="1800"/>
              <a:buFont typeface="Arial"/>
              <a:buChar char="○"/>
            </a:pPr>
            <a:r>
              <a:rPr b="1" i="1" lang="pt-BR" sz="1800">
                <a:solidFill>
                  <a:schemeClr val="dk1"/>
                </a:solidFill>
                <a:highlight>
                  <a:schemeClr val="lt1"/>
                </a:highlight>
                <a:latin typeface="Arial"/>
                <a:ea typeface="Arial"/>
                <a:cs typeface="Arial"/>
                <a:sym typeface="Arial"/>
              </a:rPr>
              <a:t>Atributos</a:t>
            </a:r>
            <a:endParaRPr b="1" sz="1800">
              <a:solidFill>
                <a:schemeClr val="dk1"/>
              </a:solidFill>
              <a:latin typeface="Arial"/>
              <a:ea typeface="Arial"/>
              <a:cs typeface="Arial"/>
              <a:sym typeface="Arial"/>
            </a:endParaRPr>
          </a:p>
        </p:txBody>
      </p:sp>
      <p:sp>
        <p:nvSpPr>
          <p:cNvPr id="93" name="Google Shape;93;p14"/>
          <p:cNvSpPr txBox="1"/>
          <p:nvPr/>
        </p:nvSpPr>
        <p:spPr>
          <a:xfrm>
            <a:off x="4795750" y="1321975"/>
            <a:ext cx="3048600" cy="3449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Raleway"/>
              <a:buChar char="●"/>
            </a:pPr>
            <a:r>
              <a:rPr b="1" lang="pt-BR" sz="1800">
                <a:solidFill>
                  <a:schemeClr val="dk1"/>
                </a:solidFill>
                <a:latin typeface="Raleway"/>
                <a:ea typeface="Raleway"/>
                <a:cs typeface="Raleway"/>
                <a:sym typeface="Raleway"/>
              </a:rPr>
              <a:t>Como funciona?</a:t>
            </a:r>
            <a:endParaRPr b="1" sz="1800">
              <a:solidFill>
                <a:schemeClr val="dk1"/>
              </a:solidFill>
              <a:latin typeface="Raleway"/>
              <a:ea typeface="Raleway"/>
              <a:cs typeface="Raleway"/>
              <a:sym typeface="Raleway"/>
            </a:endParaRPr>
          </a:p>
          <a:p>
            <a:pPr indent="0" lvl="0" marL="0" rtl="0" algn="l">
              <a:spcBef>
                <a:spcPts val="0"/>
              </a:spcBef>
              <a:spcAft>
                <a:spcPts val="0"/>
              </a:spcAft>
              <a:buNone/>
            </a:pPr>
            <a:r>
              <a:t/>
            </a:r>
            <a:endParaRPr b="1" sz="1800">
              <a:solidFill>
                <a:schemeClr val="dk1"/>
              </a:solidFill>
              <a:latin typeface="Raleway"/>
              <a:ea typeface="Raleway"/>
              <a:cs typeface="Raleway"/>
              <a:sym typeface="Raleway"/>
            </a:endParaRPr>
          </a:p>
          <a:p>
            <a:pPr indent="-342900" lvl="0" marL="457200" rtl="0" algn="l">
              <a:spcBef>
                <a:spcPts val="0"/>
              </a:spcBef>
              <a:spcAft>
                <a:spcPts val="0"/>
              </a:spcAft>
              <a:buClr>
                <a:schemeClr val="dk1"/>
              </a:buClr>
              <a:buSzPts val="1800"/>
              <a:buFont typeface="Raleway"/>
              <a:buChar char="●"/>
            </a:pPr>
            <a:r>
              <a:rPr b="1" lang="pt-BR" sz="1800">
                <a:solidFill>
                  <a:schemeClr val="dk1"/>
                </a:solidFill>
                <a:highlight>
                  <a:schemeClr val="lt1"/>
                </a:highlight>
                <a:latin typeface="Raleway"/>
                <a:ea typeface="Raleway"/>
                <a:cs typeface="Raleway"/>
                <a:sym typeface="Raleway"/>
              </a:rPr>
              <a:t>Estrutura de um Documento HTML</a:t>
            </a:r>
            <a:endParaRPr b="1" sz="1800">
              <a:solidFill>
                <a:schemeClr val="dk1"/>
              </a:solidFill>
              <a:highlight>
                <a:schemeClr val="lt1"/>
              </a:highlight>
              <a:latin typeface="Raleway"/>
              <a:ea typeface="Raleway"/>
              <a:cs typeface="Raleway"/>
              <a:sym typeface="Raleway"/>
            </a:endParaRPr>
          </a:p>
          <a:p>
            <a:pPr indent="0" lvl="0" marL="0" rtl="0" algn="l">
              <a:spcBef>
                <a:spcPts val="0"/>
              </a:spcBef>
              <a:spcAft>
                <a:spcPts val="0"/>
              </a:spcAft>
              <a:buNone/>
            </a:pPr>
            <a:r>
              <a:t/>
            </a:r>
            <a:endParaRPr b="1" sz="1800">
              <a:solidFill>
                <a:schemeClr val="dk1"/>
              </a:solidFill>
              <a:highlight>
                <a:schemeClr val="lt1"/>
              </a:highlight>
              <a:latin typeface="Raleway"/>
              <a:ea typeface="Raleway"/>
              <a:cs typeface="Raleway"/>
              <a:sym typeface="Raleway"/>
            </a:endParaRPr>
          </a:p>
          <a:p>
            <a:pPr indent="-342900" lvl="0" marL="457200" rtl="0" algn="l">
              <a:spcBef>
                <a:spcPts val="0"/>
              </a:spcBef>
              <a:spcAft>
                <a:spcPts val="0"/>
              </a:spcAft>
              <a:buClr>
                <a:schemeClr val="dk1"/>
              </a:buClr>
              <a:buSzPts val="1800"/>
              <a:buFont typeface="Raleway"/>
              <a:buChar char="●"/>
            </a:pPr>
            <a:r>
              <a:rPr b="1" lang="pt-BR" sz="1800">
                <a:solidFill>
                  <a:schemeClr val="dk1"/>
                </a:solidFill>
                <a:highlight>
                  <a:schemeClr val="lt1"/>
                </a:highlight>
                <a:latin typeface="Raleway"/>
                <a:ea typeface="Raleway"/>
                <a:cs typeface="Raleway"/>
                <a:sym typeface="Raleway"/>
              </a:rPr>
              <a:t>Aninhamento e Hierarquia</a:t>
            </a:r>
            <a:endParaRPr b="1" sz="1800">
              <a:solidFill>
                <a:schemeClr val="dk1"/>
              </a:solidFill>
              <a:highlight>
                <a:schemeClr val="lt1"/>
              </a:highlight>
              <a:latin typeface="Raleway"/>
              <a:ea typeface="Raleway"/>
              <a:cs typeface="Raleway"/>
              <a:sym typeface="Raleway"/>
            </a:endParaRPr>
          </a:p>
          <a:p>
            <a:pPr indent="0" lvl="0" marL="0" rtl="0" algn="l">
              <a:spcBef>
                <a:spcPts val="0"/>
              </a:spcBef>
              <a:spcAft>
                <a:spcPts val="0"/>
              </a:spcAft>
              <a:buNone/>
            </a:pPr>
            <a:r>
              <a:t/>
            </a:r>
            <a:endParaRPr b="1" sz="1800">
              <a:solidFill>
                <a:schemeClr val="dk1"/>
              </a:solidFill>
              <a:highlight>
                <a:schemeClr val="lt1"/>
              </a:highlight>
              <a:latin typeface="Raleway"/>
              <a:ea typeface="Raleway"/>
              <a:cs typeface="Raleway"/>
              <a:sym typeface="Raleway"/>
            </a:endParaRPr>
          </a:p>
          <a:p>
            <a:pPr indent="-342900" lvl="0" marL="457200" rtl="0" algn="l">
              <a:spcBef>
                <a:spcPts val="0"/>
              </a:spcBef>
              <a:spcAft>
                <a:spcPts val="0"/>
              </a:spcAft>
              <a:buClr>
                <a:schemeClr val="dk1"/>
              </a:buClr>
              <a:buSzPts val="1800"/>
              <a:buFont typeface="Arial"/>
              <a:buChar char="●"/>
            </a:pPr>
            <a:r>
              <a:rPr b="1" lang="pt-BR" sz="1800">
                <a:solidFill>
                  <a:schemeClr val="dk1"/>
                </a:solidFill>
                <a:highlight>
                  <a:schemeClr val="lt1"/>
                </a:highlight>
              </a:rPr>
              <a:t>HTML Semântico</a:t>
            </a:r>
            <a:endParaRPr b="1" sz="1800">
              <a:solidFill>
                <a:schemeClr val="dk1"/>
              </a:solidFill>
              <a:highlight>
                <a:schemeClr val="lt1"/>
              </a:highlight>
            </a:endParaRPr>
          </a:p>
          <a:p>
            <a:pPr indent="0" lvl="0" marL="0" rtl="0" algn="l">
              <a:spcBef>
                <a:spcPts val="0"/>
              </a:spcBef>
              <a:spcAft>
                <a:spcPts val="0"/>
              </a:spcAft>
              <a:buNone/>
            </a:pPr>
            <a:r>
              <a:t/>
            </a:r>
            <a:endParaRPr b="1" sz="1800">
              <a:solidFill>
                <a:schemeClr val="dk1"/>
              </a:solidFill>
              <a:highlight>
                <a:schemeClr val="lt1"/>
              </a:highlight>
            </a:endParaRPr>
          </a:p>
          <a:p>
            <a:pPr indent="-342900" lvl="0" marL="457200" rtl="0" algn="l">
              <a:spcBef>
                <a:spcPts val="0"/>
              </a:spcBef>
              <a:spcAft>
                <a:spcPts val="0"/>
              </a:spcAft>
              <a:buClr>
                <a:schemeClr val="dk1"/>
              </a:buClr>
              <a:buSzPts val="1800"/>
              <a:buFont typeface="Arial"/>
              <a:buChar char="●"/>
            </a:pPr>
            <a:r>
              <a:rPr b="1" lang="pt-BR" sz="1800">
                <a:solidFill>
                  <a:schemeClr val="dk1"/>
                </a:solidFill>
              </a:rPr>
              <a:t>Exemplos</a:t>
            </a:r>
            <a:endParaRPr b="1" sz="2000">
              <a:solidFill>
                <a:schemeClr val="dk1"/>
              </a:solidFill>
            </a:endParaRPr>
          </a:p>
        </p:txBody>
      </p:sp>
      <p:sp>
        <p:nvSpPr>
          <p:cNvPr id="94" name="Google Shape;94;p14"/>
          <p:cNvSpPr txBox="1"/>
          <p:nvPr>
            <p:ph type="title"/>
          </p:nvPr>
        </p:nvSpPr>
        <p:spPr>
          <a:xfrm>
            <a:off x="727800" y="58387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Um pouco do que veremos</a:t>
            </a:r>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2681250" y="0"/>
            <a:ext cx="3869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solidFill>
                  <a:schemeClr val="dk1"/>
                </a:solidFill>
              </a:rPr>
              <a:t>O que significa (HTML5)?</a:t>
            </a:r>
            <a:endParaRPr>
              <a:solidFill>
                <a:schemeClr val="dk1"/>
              </a:solidFill>
            </a:endParaRPr>
          </a:p>
        </p:txBody>
      </p:sp>
      <p:sp>
        <p:nvSpPr>
          <p:cNvPr id="100" name="Google Shape;100;p15"/>
          <p:cNvSpPr txBox="1"/>
          <p:nvPr/>
        </p:nvSpPr>
        <p:spPr>
          <a:xfrm>
            <a:off x="580500" y="800850"/>
            <a:ext cx="7624200" cy="7389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lang="pt-BR" sz="1800">
                <a:solidFill>
                  <a:schemeClr val="lt1"/>
                </a:solidFill>
              </a:rPr>
              <a:t>A sigla </a:t>
            </a:r>
            <a:r>
              <a:rPr b="1" lang="pt-BR" sz="1800">
                <a:solidFill>
                  <a:schemeClr val="lt1"/>
                </a:solidFill>
              </a:rPr>
              <a:t>HTML</a:t>
            </a:r>
            <a:r>
              <a:rPr lang="pt-BR" sz="1800">
                <a:solidFill>
                  <a:schemeClr val="lt1"/>
                </a:solidFill>
              </a:rPr>
              <a:t> significa </a:t>
            </a:r>
            <a:r>
              <a:rPr b="1" lang="pt-BR" sz="1800">
                <a:solidFill>
                  <a:schemeClr val="lt1"/>
                </a:solidFill>
              </a:rPr>
              <a:t>Linguagem de Marcação de Hipertexto</a:t>
            </a:r>
            <a:r>
              <a:rPr lang="pt-BR" sz="1800">
                <a:solidFill>
                  <a:schemeClr val="lt1"/>
                </a:solidFill>
              </a:rPr>
              <a:t> (do inglês, </a:t>
            </a:r>
            <a:r>
              <a:rPr i="1" lang="pt-BR" sz="1800">
                <a:solidFill>
                  <a:schemeClr val="lt1"/>
                </a:solidFill>
              </a:rPr>
              <a:t>HyperText Markup Language</a:t>
            </a:r>
            <a:r>
              <a:rPr lang="pt-BR" sz="1800">
                <a:solidFill>
                  <a:schemeClr val="lt1"/>
                </a:solidFill>
              </a:rPr>
              <a:t>).</a:t>
            </a:r>
            <a:endParaRPr sz="1800">
              <a:solidFill>
                <a:schemeClr val="lt1"/>
              </a:solidFill>
            </a:endParaRPr>
          </a:p>
        </p:txBody>
      </p:sp>
      <p:sp>
        <p:nvSpPr>
          <p:cNvPr id="101" name="Google Shape;101;p15"/>
          <p:cNvSpPr/>
          <p:nvPr/>
        </p:nvSpPr>
        <p:spPr>
          <a:xfrm rot="5400000">
            <a:off x="136275" y="3263650"/>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02" name="Google Shape;102;p15"/>
          <p:cNvSpPr txBox="1"/>
          <p:nvPr/>
        </p:nvSpPr>
        <p:spPr>
          <a:xfrm>
            <a:off x="580500" y="1991650"/>
            <a:ext cx="7624200" cy="101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lang="pt-BR" sz="1800">
                <a:solidFill>
                  <a:schemeClr val="dk2"/>
                </a:solidFill>
              </a:rPr>
              <a:t>Embora seja a base da construção de sites, os documentos ressaltam que o HTML </a:t>
            </a:r>
            <a:r>
              <a:rPr b="1" lang="pt-BR" sz="1800">
                <a:solidFill>
                  <a:schemeClr val="dk2"/>
                </a:solidFill>
              </a:rPr>
              <a:t>não é uma linguagem de programação</a:t>
            </a:r>
            <a:r>
              <a:rPr lang="pt-BR" sz="1800">
                <a:solidFill>
                  <a:schemeClr val="dk2"/>
                </a:solidFill>
              </a:rPr>
              <a:t>, mas sim uma </a:t>
            </a:r>
            <a:r>
              <a:rPr b="1" lang="pt-BR" sz="1800">
                <a:solidFill>
                  <a:schemeClr val="dk2"/>
                </a:solidFill>
              </a:rPr>
              <a:t>linguagem de marcação.</a:t>
            </a:r>
            <a:endParaRPr sz="1800">
              <a:solidFill>
                <a:schemeClr val="dk2"/>
              </a:solidFill>
            </a:endParaRPr>
          </a:p>
        </p:txBody>
      </p:sp>
      <p:sp>
        <p:nvSpPr>
          <p:cNvPr id="103" name="Google Shape;103;p15"/>
          <p:cNvSpPr/>
          <p:nvPr/>
        </p:nvSpPr>
        <p:spPr>
          <a:xfrm rot="5400000">
            <a:off x="136275" y="1936600"/>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04" name="Google Shape;104;p15"/>
          <p:cNvSpPr txBox="1"/>
          <p:nvPr/>
        </p:nvSpPr>
        <p:spPr>
          <a:xfrm>
            <a:off x="657900" y="3318700"/>
            <a:ext cx="7546800" cy="101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lang="pt-BR" sz="1800">
                <a:solidFill>
                  <a:schemeClr val="dk2"/>
                </a:solidFill>
              </a:rPr>
              <a:t>Sua função principal é </a:t>
            </a:r>
            <a:r>
              <a:rPr b="1" lang="pt-BR" sz="1800">
                <a:solidFill>
                  <a:schemeClr val="dk2"/>
                </a:solidFill>
              </a:rPr>
              <a:t>estruturar uma página web e seu conteúdo</a:t>
            </a:r>
            <a:r>
              <a:rPr lang="pt-BR" sz="1800">
                <a:solidFill>
                  <a:schemeClr val="dk2"/>
                </a:solidFill>
              </a:rPr>
              <a:t>, organizando elementos como parágrafos, listas com marcadores, imagens e tabelas.</a:t>
            </a:r>
            <a:endParaRPr sz="1800">
              <a:solidFill>
                <a:schemeClr val="dk2"/>
              </a:solidFill>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3454950" y="0"/>
            <a:ext cx="2234100" cy="492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Complemento</a:t>
            </a:r>
            <a:endParaRPr/>
          </a:p>
        </p:txBody>
      </p:sp>
      <p:sp>
        <p:nvSpPr>
          <p:cNvPr id="110" name="Google Shape;110;p16"/>
          <p:cNvSpPr txBox="1"/>
          <p:nvPr/>
        </p:nvSpPr>
        <p:spPr>
          <a:xfrm>
            <a:off x="133800" y="572700"/>
            <a:ext cx="2347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pt-BR" sz="2000">
                <a:solidFill>
                  <a:schemeClr val="dk1"/>
                </a:solidFill>
              </a:rPr>
              <a:t>Elementos e Tags</a:t>
            </a:r>
            <a:endParaRPr i="1" sz="2000">
              <a:solidFill>
                <a:schemeClr val="dk1"/>
              </a:solidFill>
            </a:endParaRPr>
          </a:p>
        </p:txBody>
      </p:sp>
      <p:sp>
        <p:nvSpPr>
          <p:cNvPr id="111" name="Google Shape;111;p16"/>
          <p:cNvSpPr/>
          <p:nvPr/>
        </p:nvSpPr>
        <p:spPr>
          <a:xfrm rot="5400000">
            <a:off x="198600" y="1092000"/>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12" name="Google Shape;112;p16"/>
          <p:cNvSpPr txBox="1"/>
          <p:nvPr/>
        </p:nvSpPr>
        <p:spPr>
          <a:xfrm>
            <a:off x="521550" y="1147038"/>
            <a:ext cx="8100900" cy="129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lang="pt-BR" sz="1800">
                <a:solidFill>
                  <a:schemeClr val="dk2"/>
                </a:solidFill>
              </a:rPr>
              <a:t>O HTML consiste em uma série de elementos que são usados para envolver, delimitar ou agrupar diferentes partes do conteúdo para que ele apareça ou atue de determinada maneira. Um elemento completo geralmente é formado por uma </a:t>
            </a:r>
            <a:r>
              <a:rPr b="1" lang="pt-BR" sz="1800">
                <a:solidFill>
                  <a:schemeClr val="dk2"/>
                </a:solidFill>
              </a:rPr>
              <a:t>tag de abertura</a:t>
            </a:r>
            <a:r>
              <a:rPr lang="pt-BR" sz="1800">
                <a:solidFill>
                  <a:schemeClr val="dk2"/>
                </a:solidFill>
              </a:rPr>
              <a:t>, o conteúdo e uma </a:t>
            </a:r>
            <a:r>
              <a:rPr b="1" lang="pt-BR" sz="1800">
                <a:solidFill>
                  <a:schemeClr val="dk2"/>
                </a:solidFill>
              </a:rPr>
              <a:t>tag de fechamento.</a:t>
            </a:r>
            <a:endParaRPr sz="1800">
              <a:solidFill>
                <a:schemeClr val="dk2"/>
              </a:solidFill>
            </a:endParaRPr>
          </a:p>
        </p:txBody>
      </p:sp>
      <p:sp>
        <p:nvSpPr>
          <p:cNvPr id="113" name="Google Shape;113;p16"/>
          <p:cNvSpPr txBox="1"/>
          <p:nvPr/>
        </p:nvSpPr>
        <p:spPr>
          <a:xfrm>
            <a:off x="133800" y="2734400"/>
            <a:ext cx="1850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pt-BR" sz="2000">
                <a:solidFill>
                  <a:schemeClr val="dk1"/>
                </a:solidFill>
              </a:rPr>
              <a:t>Hipertexto</a:t>
            </a:r>
            <a:endParaRPr i="1" sz="2000">
              <a:solidFill>
                <a:schemeClr val="dk1"/>
              </a:solidFill>
            </a:endParaRPr>
          </a:p>
        </p:txBody>
      </p:sp>
      <p:sp>
        <p:nvSpPr>
          <p:cNvPr id="114" name="Google Shape;114;p16"/>
          <p:cNvSpPr txBox="1"/>
          <p:nvPr/>
        </p:nvSpPr>
        <p:spPr>
          <a:xfrm>
            <a:off x="668850" y="3322925"/>
            <a:ext cx="7806300" cy="101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lang="pt-BR" sz="1800">
                <a:solidFill>
                  <a:schemeClr val="dk2"/>
                </a:solidFill>
              </a:rPr>
              <a:t>O termo refere-se à capacidade de transformar palavras ou imagens em </a:t>
            </a:r>
            <a:r>
              <a:rPr b="1" lang="pt-BR" sz="1800">
                <a:solidFill>
                  <a:schemeClr val="dk2"/>
                </a:solidFill>
              </a:rPr>
              <a:t>hiperlinks</a:t>
            </a:r>
            <a:r>
              <a:rPr lang="pt-BR" sz="1800">
                <a:solidFill>
                  <a:schemeClr val="dk2"/>
                </a:solidFill>
              </a:rPr>
              <a:t> (ou âncoras), que são o que permite que a web funcione como uma rede interconectada de documentos.</a:t>
            </a:r>
            <a:endParaRPr sz="1800">
              <a:solidFill>
                <a:schemeClr val="dk2"/>
              </a:solidFill>
            </a:endParaRPr>
          </a:p>
        </p:txBody>
      </p:sp>
      <p:sp>
        <p:nvSpPr>
          <p:cNvPr id="115" name="Google Shape;115;p16"/>
          <p:cNvSpPr/>
          <p:nvPr/>
        </p:nvSpPr>
        <p:spPr>
          <a:xfrm rot="5400000">
            <a:off x="198600" y="333902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nvSpPr>
        <p:spPr>
          <a:xfrm>
            <a:off x="514188" y="404175"/>
            <a:ext cx="1587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pt-BR" sz="2000">
                <a:solidFill>
                  <a:schemeClr val="dk1"/>
                </a:solidFill>
                <a:highlight>
                  <a:srgbClr val="FFFFFF"/>
                </a:highlight>
              </a:rPr>
              <a:t>Semântica</a:t>
            </a:r>
            <a:endParaRPr i="1" sz="2000">
              <a:solidFill>
                <a:schemeClr val="dk1"/>
              </a:solidFill>
            </a:endParaRPr>
          </a:p>
        </p:txBody>
      </p:sp>
      <p:sp>
        <p:nvSpPr>
          <p:cNvPr id="121" name="Google Shape;121;p17"/>
          <p:cNvSpPr/>
          <p:nvPr/>
        </p:nvSpPr>
        <p:spPr>
          <a:xfrm rot="5400000">
            <a:off x="370763" y="93932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22" name="Google Shape;122;p17"/>
          <p:cNvSpPr txBox="1"/>
          <p:nvPr/>
        </p:nvSpPr>
        <p:spPr>
          <a:xfrm>
            <a:off x="778350" y="994375"/>
            <a:ext cx="7587300" cy="156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lang="pt-BR" sz="1800">
                <a:solidFill>
                  <a:srgbClr val="303030"/>
                </a:solidFill>
                <a:highlight>
                  <a:srgbClr val="FFFFFF"/>
                </a:highlight>
              </a:rPr>
              <a:t>Atualmente, incentiva-se o uso do </a:t>
            </a:r>
            <a:r>
              <a:rPr b="1" lang="pt-BR" sz="1800">
                <a:solidFill>
                  <a:srgbClr val="303030"/>
                </a:solidFill>
                <a:highlight>
                  <a:srgbClr val="FFFFFF"/>
                </a:highlight>
              </a:rPr>
              <a:t>HTML semântico</a:t>
            </a:r>
            <a:r>
              <a:rPr lang="pt-BR" sz="1800">
                <a:solidFill>
                  <a:srgbClr val="303030"/>
                </a:solidFill>
                <a:highlight>
                  <a:srgbClr val="FFFFFF"/>
                </a:highlight>
              </a:rPr>
              <a:t>, onde as tags (como </a:t>
            </a:r>
            <a:r>
              <a:rPr lang="pt-BR" sz="1800">
                <a:solidFill>
                  <a:srgbClr val="282A2C"/>
                </a:solidFill>
                <a:highlight>
                  <a:srgbClr val="C4C7C5"/>
                </a:highlight>
                <a:latin typeface="Roboto Mono"/>
                <a:ea typeface="Roboto Mono"/>
                <a:cs typeface="Roboto Mono"/>
                <a:sym typeface="Roboto Mono"/>
              </a:rPr>
              <a:t>&lt;header&gt;</a:t>
            </a:r>
            <a:r>
              <a:rPr lang="pt-BR" sz="1800">
                <a:solidFill>
                  <a:srgbClr val="303030"/>
                </a:solidFill>
                <a:highlight>
                  <a:srgbClr val="FFFFFF"/>
                </a:highlight>
              </a:rPr>
              <a:t>, </a:t>
            </a:r>
            <a:r>
              <a:rPr lang="pt-BR" sz="1800">
                <a:solidFill>
                  <a:srgbClr val="282A2C"/>
                </a:solidFill>
                <a:highlight>
                  <a:srgbClr val="C4C7C5"/>
                </a:highlight>
                <a:latin typeface="Roboto Mono"/>
                <a:ea typeface="Roboto Mono"/>
                <a:cs typeface="Roboto Mono"/>
                <a:sym typeface="Roboto Mono"/>
              </a:rPr>
              <a:t>&lt;article</a:t>
            </a:r>
            <a:r>
              <a:rPr lang="pt-BR" sz="1800">
                <a:solidFill>
                  <a:srgbClr val="282A2C"/>
                </a:solidFill>
                <a:highlight>
                  <a:srgbClr val="C4C7C5"/>
                </a:highlight>
                <a:latin typeface="Roboto Mono"/>
                <a:ea typeface="Roboto Mono"/>
                <a:cs typeface="Roboto Mono"/>
                <a:sym typeface="Roboto Mono"/>
              </a:rPr>
              <a:t>&gt;</a:t>
            </a:r>
            <a:r>
              <a:rPr lang="pt-BR" sz="1800">
                <a:solidFill>
                  <a:srgbClr val="303030"/>
                </a:solidFill>
                <a:highlight>
                  <a:srgbClr val="FFFFFF"/>
                </a:highlight>
              </a:rPr>
              <a:t> e </a:t>
            </a:r>
            <a:r>
              <a:rPr lang="pt-BR" sz="1800">
                <a:solidFill>
                  <a:srgbClr val="282A2C"/>
                </a:solidFill>
                <a:highlight>
                  <a:srgbClr val="C4C7C5"/>
                </a:highlight>
                <a:latin typeface="Roboto Mono"/>
                <a:ea typeface="Roboto Mono"/>
                <a:cs typeface="Roboto Mono"/>
                <a:sym typeface="Roboto Mono"/>
              </a:rPr>
              <a:t>&lt;footer&gt;</a:t>
            </a:r>
            <a:r>
              <a:rPr lang="pt-BR" sz="1800">
                <a:solidFill>
                  <a:srgbClr val="303030"/>
                </a:solidFill>
                <a:highlight>
                  <a:srgbClr val="FFFFFF"/>
                </a:highlight>
              </a:rPr>
              <a:t>) claramente definem o propósito do conteúdo que elas encerram, facilitando a compreensão tanto para desenvolvedores quanto para motores de busca e ferramentas de acessibilidade.</a:t>
            </a:r>
            <a:endParaRPr sz="1800">
              <a:solidFill>
                <a:schemeClr val="dk2"/>
              </a:solidFill>
            </a:endParaRPr>
          </a:p>
        </p:txBody>
      </p:sp>
      <p:sp>
        <p:nvSpPr>
          <p:cNvPr id="123" name="Google Shape;123;p17"/>
          <p:cNvSpPr txBox="1"/>
          <p:nvPr/>
        </p:nvSpPr>
        <p:spPr>
          <a:xfrm>
            <a:off x="514200" y="2661875"/>
            <a:ext cx="1928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2000">
                <a:solidFill>
                  <a:schemeClr val="dk1"/>
                </a:solidFill>
              </a:rPr>
              <a:t>Diferenciação</a:t>
            </a:r>
            <a:endParaRPr b="1" sz="2000">
              <a:solidFill>
                <a:schemeClr val="dk1"/>
              </a:solidFill>
            </a:endParaRPr>
          </a:p>
        </p:txBody>
      </p:sp>
      <p:sp>
        <p:nvSpPr>
          <p:cNvPr id="124" name="Google Shape;124;p17"/>
          <p:cNvSpPr txBox="1"/>
          <p:nvPr/>
        </p:nvSpPr>
        <p:spPr>
          <a:xfrm>
            <a:off x="778350" y="3317225"/>
            <a:ext cx="7587300" cy="101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pt-BR" sz="1800"/>
              <a:t>Enquanto o HTML estrutura o conteúdo, outras linguagens como o CSS são usadas para a estilização (estética) e o JavaScript para adicionar comportamentos dinâmicos e interatividade.</a:t>
            </a:r>
            <a:endParaRPr sz="1800"/>
          </a:p>
        </p:txBody>
      </p:sp>
      <p:sp>
        <p:nvSpPr>
          <p:cNvPr id="125" name="Google Shape;125;p17"/>
          <p:cNvSpPr/>
          <p:nvPr/>
        </p:nvSpPr>
        <p:spPr>
          <a:xfrm rot="5400000">
            <a:off x="370775" y="329462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txBox="1"/>
          <p:nvPr/>
        </p:nvSpPr>
        <p:spPr>
          <a:xfrm>
            <a:off x="3298200" y="4512350"/>
            <a:ext cx="2547600" cy="346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050">
                <a:solidFill>
                  <a:schemeClr val="dk1"/>
                </a:solidFill>
                <a:highlight>
                  <a:srgbClr val="F8F4F1"/>
                </a:highlight>
                <a:latin typeface="Roboto"/>
                <a:ea typeface="Roboto"/>
                <a:cs typeface="Roboto"/>
                <a:sym typeface="Roboto"/>
              </a:rPr>
              <a:t>HTML (HyperText Markup Language)</a:t>
            </a:r>
            <a:endParaRPr/>
          </a:p>
        </p:txBody>
      </p:sp>
      <p:sp>
        <p:nvSpPr>
          <p:cNvPr id="127" name="Google Shape;127;p17"/>
          <p:cNvSpPr txBox="1"/>
          <p:nvPr>
            <p:ph type="title"/>
          </p:nvPr>
        </p:nvSpPr>
        <p:spPr>
          <a:xfrm>
            <a:off x="3454950" y="0"/>
            <a:ext cx="2234100" cy="492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Complemento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txBox="1"/>
          <p:nvPr>
            <p:ph type="title"/>
          </p:nvPr>
        </p:nvSpPr>
        <p:spPr>
          <a:xfrm>
            <a:off x="3262200" y="0"/>
            <a:ext cx="2619600" cy="507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t>Como funciona?</a:t>
            </a:r>
            <a:endParaRPr/>
          </a:p>
        </p:txBody>
      </p:sp>
      <p:sp>
        <p:nvSpPr>
          <p:cNvPr id="133" name="Google Shape;133;p18"/>
          <p:cNvSpPr txBox="1"/>
          <p:nvPr/>
        </p:nvSpPr>
        <p:spPr>
          <a:xfrm>
            <a:off x="664500" y="840325"/>
            <a:ext cx="7679100" cy="184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lang="pt-BR" sz="1800">
                <a:solidFill>
                  <a:srgbClr val="303030"/>
                </a:solidFill>
                <a:highlight>
                  <a:srgbClr val="FFFFFF"/>
                </a:highlight>
              </a:rPr>
              <a:t>O </a:t>
            </a:r>
            <a:r>
              <a:rPr b="1" lang="pt-BR" sz="1800">
                <a:solidFill>
                  <a:srgbClr val="303030"/>
                </a:solidFill>
                <a:highlight>
                  <a:srgbClr val="FFFFFF"/>
                </a:highlight>
              </a:rPr>
              <a:t>HTML</a:t>
            </a:r>
            <a:r>
              <a:rPr lang="pt-BR" sz="1800">
                <a:solidFill>
                  <a:srgbClr val="303030"/>
                </a:solidFill>
                <a:highlight>
                  <a:srgbClr val="FFFFFF"/>
                </a:highlight>
              </a:rPr>
              <a:t> (</a:t>
            </a:r>
            <a:r>
              <a:rPr b="1" lang="pt-BR" sz="1800">
                <a:solidFill>
                  <a:srgbClr val="303030"/>
                </a:solidFill>
                <a:highlight>
                  <a:srgbClr val="FFFFFF"/>
                </a:highlight>
              </a:rPr>
              <a:t>Linguagem de Marcação de Hipertexto</a:t>
            </a:r>
            <a:r>
              <a:rPr lang="pt-BR" sz="1800">
                <a:solidFill>
                  <a:srgbClr val="303030"/>
                </a:solidFill>
                <a:highlight>
                  <a:srgbClr val="FFFFFF"/>
                </a:highlight>
              </a:rPr>
              <a:t>) funciona como a espinha dorsal de uma página web, sendo utilizado para </a:t>
            </a:r>
            <a:r>
              <a:rPr b="1" lang="pt-BR" sz="1800">
                <a:solidFill>
                  <a:srgbClr val="303030"/>
                </a:solidFill>
                <a:highlight>
                  <a:srgbClr val="FFFFFF"/>
                </a:highlight>
              </a:rPr>
              <a:t>estruturar o conteúdo</a:t>
            </a:r>
            <a:r>
              <a:rPr lang="pt-BR" sz="1800">
                <a:solidFill>
                  <a:srgbClr val="303030"/>
                </a:solidFill>
                <a:highlight>
                  <a:srgbClr val="FFFFFF"/>
                </a:highlight>
              </a:rPr>
              <a:t> que o usuário vê no navegador. É importante destacar que ele </a:t>
            </a:r>
            <a:r>
              <a:rPr b="1" lang="pt-BR" sz="1800">
                <a:solidFill>
                  <a:srgbClr val="303030"/>
                </a:solidFill>
                <a:highlight>
                  <a:srgbClr val="FFFFFF"/>
                </a:highlight>
              </a:rPr>
              <a:t>não é uma linguagem de programação</a:t>
            </a:r>
            <a:r>
              <a:rPr lang="pt-BR" sz="1800">
                <a:solidFill>
                  <a:srgbClr val="303030"/>
                </a:solidFill>
                <a:highlight>
                  <a:srgbClr val="FFFFFF"/>
                </a:highlight>
              </a:rPr>
              <a:t>, mas sim uma linguagem de marcação que define onde cada parte do conteúdo (como parágrafos, imagens ou tabelas) deve estar e qual o seu papel.</a:t>
            </a:r>
            <a:endParaRPr sz="1800">
              <a:solidFill>
                <a:schemeClr val="dk2"/>
              </a:solidFill>
            </a:endParaRPr>
          </a:p>
        </p:txBody>
      </p:sp>
      <p:sp>
        <p:nvSpPr>
          <p:cNvPr id="134" name="Google Shape;134;p18"/>
          <p:cNvSpPr/>
          <p:nvPr/>
        </p:nvSpPr>
        <p:spPr>
          <a:xfrm rot="5400000">
            <a:off x="166650" y="78527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pic>
        <p:nvPicPr>
          <p:cNvPr id="135" name="Google Shape;135;p18"/>
          <p:cNvPicPr preferRelativeResize="0"/>
          <p:nvPr/>
        </p:nvPicPr>
        <p:blipFill>
          <a:blip r:embed="rId3">
            <a:alphaModFix/>
          </a:blip>
          <a:stretch>
            <a:fillRect/>
          </a:stretch>
        </p:blipFill>
        <p:spPr>
          <a:xfrm>
            <a:off x="664488" y="2996375"/>
            <a:ext cx="1628775" cy="1714500"/>
          </a:xfrm>
          <a:prstGeom prst="rect">
            <a:avLst/>
          </a:prstGeom>
          <a:noFill/>
          <a:ln>
            <a:noFill/>
          </a:ln>
        </p:spPr>
      </p:pic>
      <p:pic>
        <p:nvPicPr>
          <p:cNvPr id="136" name="Google Shape;136;p18"/>
          <p:cNvPicPr preferRelativeResize="0"/>
          <p:nvPr/>
        </p:nvPicPr>
        <p:blipFill>
          <a:blip r:embed="rId4">
            <a:alphaModFix/>
          </a:blip>
          <a:stretch>
            <a:fillRect/>
          </a:stretch>
        </p:blipFill>
        <p:spPr>
          <a:xfrm>
            <a:off x="6724350" y="3107162"/>
            <a:ext cx="1619250" cy="1410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1080300" y="79275"/>
            <a:ext cx="6983400" cy="4617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i="1" lang="pt-BR" sz="2000">
                <a:highlight>
                  <a:srgbClr val="FFFFFF"/>
                </a:highlight>
              </a:rPr>
              <a:t>Detalhe</a:t>
            </a:r>
            <a:r>
              <a:rPr i="1" lang="pt-BR" sz="2000">
                <a:highlight>
                  <a:srgbClr val="FFFFFF"/>
                </a:highlight>
              </a:rPr>
              <a:t> dos mecanismos fundamentais de seu funcionamento:</a:t>
            </a:r>
            <a:endParaRPr i="1" sz="2000"/>
          </a:p>
        </p:txBody>
      </p:sp>
      <p:sp>
        <p:nvSpPr>
          <p:cNvPr id="142" name="Google Shape;142;p19"/>
          <p:cNvSpPr txBox="1"/>
          <p:nvPr/>
        </p:nvSpPr>
        <p:spPr>
          <a:xfrm>
            <a:off x="703725" y="2010625"/>
            <a:ext cx="768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pt-BR" sz="1800">
                <a:solidFill>
                  <a:schemeClr val="dk1"/>
                </a:solidFill>
                <a:highlight>
                  <a:srgbClr val="FFFFFF"/>
                </a:highlight>
              </a:rPr>
              <a:t>Conteúdo</a:t>
            </a:r>
            <a:r>
              <a:rPr b="1" lang="pt-BR" sz="1800">
                <a:solidFill>
                  <a:srgbClr val="303030"/>
                </a:solidFill>
                <a:highlight>
                  <a:srgbClr val="FFFFFF"/>
                </a:highlight>
              </a:rPr>
              <a:t>:</a:t>
            </a:r>
            <a:r>
              <a:rPr lang="pt-BR" sz="1800">
                <a:solidFill>
                  <a:srgbClr val="303030"/>
                </a:solidFill>
                <a:highlight>
                  <a:srgbClr val="FFFFFF"/>
                </a:highlight>
              </a:rPr>
              <a:t> O texto ou outros elementos contidos dentro das tags</a:t>
            </a:r>
            <a:endParaRPr sz="1800"/>
          </a:p>
        </p:txBody>
      </p:sp>
      <p:sp>
        <p:nvSpPr>
          <p:cNvPr id="143" name="Google Shape;143;p19"/>
          <p:cNvSpPr txBox="1"/>
          <p:nvPr/>
        </p:nvSpPr>
        <p:spPr>
          <a:xfrm>
            <a:off x="731100" y="670725"/>
            <a:ext cx="768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pt-BR" sz="1800">
                <a:solidFill>
                  <a:schemeClr val="dk1"/>
                </a:solidFill>
                <a:highlight>
                  <a:srgbClr val="FFFFFF"/>
                </a:highlight>
              </a:rPr>
              <a:t>Tag de abertura</a:t>
            </a:r>
            <a:r>
              <a:rPr b="1" lang="pt-BR" sz="1800">
                <a:solidFill>
                  <a:srgbClr val="303030"/>
                </a:solidFill>
                <a:highlight>
                  <a:srgbClr val="FFFFFF"/>
                </a:highlight>
              </a:rPr>
              <a:t>:</a:t>
            </a:r>
            <a:r>
              <a:rPr lang="pt-BR" sz="1800">
                <a:solidFill>
                  <a:srgbClr val="303030"/>
                </a:solidFill>
                <a:highlight>
                  <a:srgbClr val="FFFFFF"/>
                </a:highlight>
              </a:rPr>
              <a:t> Indica onde o elemento começa (ex: </a:t>
            </a:r>
            <a:r>
              <a:rPr lang="pt-BR" sz="1800">
                <a:solidFill>
                  <a:srgbClr val="282A2C"/>
                </a:solidFill>
                <a:highlight>
                  <a:srgbClr val="C4C7C5"/>
                </a:highlight>
                <a:latin typeface="Roboto Mono"/>
                <a:ea typeface="Roboto Mono"/>
                <a:cs typeface="Roboto Mono"/>
                <a:sym typeface="Roboto Mono"/>
              </a:rPr>
              <a:t>&lt;p&gt;</a:t>
            </a:r>
            <a:r>
              <a:rPr lang="pt-BR" sz="1800">
                <a:solidFill>
                  <a:srgbClr val="303030"/>
                </a:solidFill>
                <a:highlight>
                  <a:srgbClr val="FFFFFF"/>
                </a:highlight>
              </a:rPr>
              <a:t>).</a:t>
            </a:r>
            <a:endParaRPr sz="1800"/>
          </a:p>
        </p:txBody>
      </p:sp>
      <p:sp>
        <p:nvSpPr>
          <p:cNvPr id="144" name="Google Shape;144;p19"/>
          <p:cNvSpPr txBox="1"/>
          <p:nvPr/>
        </p:nvSpPr>
        <p:spPr>
          <a:xfrm>
            <a:off x="718950" y="1202075"/>
            <a:ext cx="7666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pt-BR" sz="1800">
                <a:solidFill>
                  <a:schemeClr val="dk1"/>
                </a:solidFill>
                <a:highlight>
                  <a:srgbClr val="FFFFFF"/>
                </a:highlight>
              </a:rPr>
              <a:t>Tag de fechamento</a:t>
            </a:r>
            <a:r>
              <a:rPr b="1" lang="pt-BR" sz="1800">
                <a:solidFill>
                  <a:srgbClr val="303030"/>
                </a:solidFill>
                <a:highlight>
                  <a:srgbClr val="FFFFFF"/>
                </a:highlight>
              </a:rPr>
              <a:t>:</a:t>
            </a:r>
            <a:r>
              <a:rPr lang="pt-BR" sz="1800">
                <a:solidFill>
                  <a:srgbClr val="303030"/>
                </a:solidFill>
                <a:highlight>
                  <a:srgbClr val="FFFFFF"/>
                </a:highlight>
              </a:rPr>
              <a:t> Idêntica à de abertura, mas com uma barra antes do nome (ex: </a:t>
            </a:r>
            <a:r>
              <a:rPr lang="pt-BR" sz="1800">
                <a:solidFill>
                  <a:srgbClr val="282A2C"/>
                </a:solidFill>
                <a:highlight>
                  <a:srgbClr val="C4C7C5"/>
                </a:highlight>
                <a:latin typeface="Roboto Mono"/>
                <a:ea typeface="Roboto Mono"/>
                <a:cs typeface="Roboto Mono"/>
                <a:sym typeface="Roboto Mono"/>
              </a:rPr>
              <a:t>&lt;/p&gt;</a:t>
            </a:r>
            <a:r>
              <a:rPr lang="pt-BR" sz="1800">
                <a:solidFill>
                  <a:srgbClr val="303030"/>
                </a:solidFill>
                <a:highlight>
                  <a:srgbClr val="FFFFFF"/>
                </a:highlight>
              </a:rPr>
              <a:t>), indicando o fim do elemento.</a:t>
            </a:r>
            <a:endParaRPr sz="1800"/>
          </a:p>
        </p:txBody>
      </p:sp>
      <p:sp>
        <p:nvSpPr>
          <p:cNvPr id="145" name="Google Shape;145;p19"/>
          <p:cNvSpPr txBox="1"/>
          <p:nvPr/>
        </p:nvSpPr>
        <p:spPr>
          <a:xfrm>
            <a:off x="703625" y="2560725"/>
            <a:ext cx="7681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pt-BR" sz="1800">
                <a:solidFill>
                  <a:schemeClr val="dk1"/>
                </a:solidFill>
                <a:highlight>
                  <a:srgbClr val="FFFFFF"/>
                </a:highlight>
              </a:rPr>
              <a:t>Atributos</a:t>
            </a:r>
            <a:r>
              <a:rPr b="1" lang="pt-BR" sz="1800">
                <a:solidFill>
                  <a:srgbClr val="303030"/>
                </a:solidFill>
                <a:highlight>
                  <a:srgbClr val="FFFFFF"/>
                </a:highlight>
              </a:rPr>
              <a:t>:</a:t>
            </a:r>
            <a:r>
              <a:rPr lang="pt-BR" sz="1800">
                <a:solidFill>
                  <a:srgbClr val="303030"/>
                </a:solidFill>
                <a:highlight>
                  <a:srgbClr val="FFFFFF"/>
                </a:highlight>
              </a:rPr>
              <a:t> Informações extras que não aparecem no conteúdo, como o </a:t>
            </a:r>
            <a:r>
              <a:rPr lang="pt-BR" sz="1800">
                <a:solidFill>
                  <a:srgbClr val="282A2C"/>
                </a:solidFill>
                <a:highlight>
                  <a:srgbClr val="C4C7C5"/>
                </a:highlight>
                <a:latin typeface="Roboto Mono"/>
                <a:ea typeface="Roboto Mono"/>
                <a:cs typeface="Roboto Mono"/>
                <a:sym typeface="Roboto Mono"/>
              </a:rPr>
              <a:t>src</a:t>
            </a:r>
            <a:r>
              <a:rPr lang="pt-BR" sz="1800">
                <a:solidFill>
                  <a:srgbClr val="303030"/>
                </a:solidFill>
                <a:highlight>
                  <a:srgbClr val="FFFFFF"/>
                </a:highlight>
              </a:rPr>
              <a:t> em uma imagem ou o </a:t>
            </a:r>
            <a:r>
              <a:rPr lang="pt-BR" sz="1800">
                <a:solidFill>
                  <a:srgbClr val="282A2C"/>
                </a:solidFill>
                <a:highlight>
                  <a:srgbClr val="C4C7C5"/>
                </a:highlight>
                <a:latin typeface="Roboto Mono"/>
                <a:ea typeface="Roboto Mono"/>
                <a:cs typeface="Roboto Mono"/>
                <a:sym typeface="Roboto Mono"/>
              </a:rPr>
              <a:t>href</a:t>
            </a:r>
            <a:r>
              <a:rPr lang="pt-BR" sz="1800">
                <a:solidFill>
                  <a:srgbClr val="303030"/>
                </a:solidFill>
                <a:highlight>
                  <a:srgbClr val="FFFFFF"/>
                </a:highlight>
              </a:rPr>
              <a:t> em um link.</a:t>
            </a:r>
            <a:endParaRPr sz="1800"/>
          </a:p>
        </p:txBody>
      </p:sp>
      <p:sp>
        <p:nvSpPr>
          <p:cNvPr id="146" name="Google Shape;146;p19"/>
          <p:cNvSpPr txBox="1"/>
          <p:nvPr/>
        </p:nvSpPr>
        <p:spPr>
          <a:xfrm>
            <a:off x="703575" y="3606550"/>
            <a:ext cx="7681800" cy="101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303030"/>
                </a:solidFill>
                <a:highlight>
                  <a:srgbClr val="FFFFFF"/>
                </a:highlight>
              </a:rPr>
              <a:t>Existem também os </a:t>
            </a:r>
            <a:r>
              <a:rPr b="1" lang="pt-BR" sz="1800">
                <a:solidFill>
                  <a:srgbClr val="303030"/>
                </a:solidFill>
                <a:highlight>
                  <a:srgbClr val="FFFFFF"/>
                </a:highlight>
              </a:rPr>
              <a:t>elementos vazios</a:t>
            </a:r>
            <a:r>
              <a:rPr lang="pt-BR" sz="1800">
                <a:solidFill>
                  <a:srgbClr val="303030"/>
                </a:solidFill>
                <a:highlight>
                  <a:srgbClr val="FFFFFF"/>
                </a:highlight>
              </a:rPr>
              <a:t>, como o </a:t>
            </a:r>
            <a:r>
              <a:rPr lang="pt-BR" sz="1800">
                <a:solidFill>
                  <a:srgbClr val="282A2C"/>
                </a:solidFill>
                <a:highlight>
                  <a:srgbClr val="C4C7C5"/>
                </a:highlight>
                <a:latin typeface="Roboto Mono"/>
                <a:ea typeface="Roboto Mono"/>
                <a:cs typeface="Roboto Mono"/>
                <a:sym typeface="Roboto Mono"/>
              </a:rPr>
              <a:t>&lt;img&gt;</a:t>
            </a:r>
            <a:r>
              <a:rPr lang="pt-BR" sz="1800">
                <a:solidFill>
                  <a:srgbClr val="303030"/>
                </a:solidFill>
                <a:highlight>
                  <a:srgbClr val="FFFFFF"/>
                </a:highlight>
              </a:rPr>
              <a:t> e o </a:t>
            </a:r>
            <a:r>
              <a:rPr lang="pt-BR" sz="1800">
                <a:solidFill>
                  <a:srgbClr val="282A2C"/>
                </a:solidFill>
                <a:highlight>
                  <a:srgbClr val="C4C7C5"/>
                </a:highlight>
                <a:latin typeface="Roboto Mono"/>
                <a:ea typeface="Roboto Mono"/>
                <a:cs typeface="Roboto Mono"/>
                <a:sym typeface="Roboto Mono"/>
              </a:rPr>
              <a:t>&lt;br&gt;</a:t>
            </a:r>
            <a:r>
              <a:rPr lang="pt-BR" sz="1800">
                <a:solidFill>
                  <a:srgbClr val="303030"/>
                </a:solidFill>
                <a:highlight>
                  <a:srgbClr val="FFFFFF"/>
                </a:highlight>
              </a:rPr>
              <a:t>, que não possuem conteúdo interno nem tag de fechamento, servindo apenas para inserir algo no local onde aparecem.</a:t>
            </a:r>
            <a:endParaRPr sz="1800"/>
          </a:p>
        </p:txBody>
      </p:sp>
      <p:sp>
        <p:nvSpPr>
          <p:cNvPr id="147" name="Google Shape;147;p19"/>
          <p:cNvSpPr/>
          <p:nvPr/>
        </p:nvSpPr>
        <p:spPr>
          <a:xfrm rot="5400000">
            <a:off x="291325" y="615650"/>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48" name="Google Shape;148;p19"/>
          <p:cNvSpPr/>
          <p:nvPr/>
        </p:nvSpPr>
        <p:spPr>
          <a:xfrm rot="5400000">
            <a:off x="291325" y="114702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49" name="Google Shape;149;p19"/>
          <p:cNvSpPr/>
          <p:nvPr/>
        </p:nvSpPr>
        <p:spPr>
          <a:xfrm rot="5400000">
            <a:off x="291325" y="250567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50" name="Google Shape;150;p19"/>
          <p:cNvSpPr/>
          <p:nvPr/>
        </p:nvSpPr>
        <p:spPr>
          <a:xfrm rot="5400000">
            <a:off x="291325" y="195557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51" name="Google Shape;151;p19"/>
          <p:cNvSpPr/>
          <p:nvPr/>
        </p:nvSpPr>
        <p:spPr>
          <a:xfrm rot="5400000">
            <a:off x="291325" y="3551500"/>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type="title"/>
          </p:nvPr>
        </p:nvSpPr>
        <p:spPr>
          <a:xfrm>
            <a:off x="2468400" y="31550"/>
            <a:ext cx="4207200" cy="39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pt-BR" sz="1800">
                <a:solidFill>
                  <a:srgbClr val="303030"/>
                </a:solidFill>
                <a:highlight>
                  <a:srgbClr val="FFFFFF"/>
                </a:highlight>
              </a:rPr>
              <a:t>Estrutura de um Documento HTML</a:t>
            </a:r>
            <a:endParaRPr sz="1800"/>
          </a:p>
        </p:txBody>
      </p:sp>
      <p:sp>
        <p:nvSpPr>
          <p:cNvPr id="157" name="Google Shape;157;p20"/>
          <p:cNvSpPr txBox="1"/>
          <p:nvPr/>
        </p:nvSpPr>
        <p:spPr>
          <a:xfrm>
            <a:off x="201775" y="515650"/>
            <a:ext cx="7989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Para que uma página funcione corretamente, os elementos são organizados em uma estrutura padrão.</a:t>
            </a:r>
            <a:endParaRPr sz="1800">
              <a:solidFill>
                <a:schemeClr val="dk1"/>
              </a:solidFill>
            </a:endParaRPr>
          </a:p>
        </p:txBody>
      </p:sp>
      <p:sp>
        <p:nvSpPr>
          <p:cNvPr id="158" name="Google Shape;158;p20"/>
          <p:cNvSpPr/>
          <p:nvPr/>
        </p:nvSpPr>
        <p:spPr>
          <a:xfrm rot="5400000">
            <a:off x="366900" y="1371825"/>
            <a:ext cx="267900" cy="378000"/>
          </a:xfrm>
          <a:prstGeom prst="bentUpArrow">
            <a:avLst>
              <a:gd fmla="val 25000" name="adj1"/>
              <a:gd fmla="val 25000" name="adj2"/>
              <a:gd fmla="val 50000"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59" name="Google Shape;159;p20"/>
          <p:cNvSpPr txBox="1"/>
          <p:nvPr/>
        </p:nvSpPr>
        <p:spPr>
          <a:xfrm>
            <a:off x="778800" y="1426875"/>
            <a:ext cx="7364700" cy="73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282A2C"/>
                </a:solidFill>
                <a:highlight>
                  <a:srgbClr val="C4C7C5"/>
                </a:highlight>
                <a:latin typeface="Courier New"/>
                <a:ea typeface="Courier New"/>
                <a:cs typeface="Courier New"/>
                <a:sym typeface="Courier New"/>
              </a:rPr>
              <a:t>&lt;!DOCTYPE html&gt;</a:t>
            </a:r>
            <a:r>
              <a:rPr b="1" lang="pt-BR" sz="1800">
                <a:solidFill>
                  <a:srgbClr val="303030"/>
                </a:solidFill>
                <a:highlight>
                  <a:srgbClr val="FFFFFF"/>
                </a:highlight>
              </a:rPr>
              <a:t>:</a:t>
            </a:r>
            <a:r>
              <a:rPr lang="pt-BR" sz="1800">
                <a:solidFill>
                  <a:srgbClr val="303030"/>
                </a:solidFill>
                <a:highlight>
                  <a:srgbClr val="FFFFFF"/>
                </a:highlight>
              </a:rPr>
              <a:t> Uma declaração obrigatória que garante que o documento se comporte conforme os padrões modernos.</a:t>
            </a:r>
            <a:endParaRPr sz="1800">
              <a:solidFill>
                <a:schemeClr val="dk2"/>
              </a:solidFill>
            </a:endParaRPr>
          </a:p>
        </p:txBody>
      </p:sp>
      <p:sp>
        <p:nvSpPr>
          <p:cNvPr id="160" name="Google Shape;160;p20"/>
          <p:cNvSpPr/>
          <p:nvPr/>
        </p:nvSpPr>
        <p:spPr>
          <a:xfrm rot="5400000">
            <a:off x="366900" y="2283013"/>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61" name="Google Shape;161;p20"/>
          <p:cNvSpPr txBox="1"/>
          <p:nvPr/>
        </p:nvSpPr>
        <p:spPr>
          <a:xfrm>
            <a:off x="778800" y="2338075"/>
            <a:ext cx="7291200" cy="46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282A2C"/>
                </a:solidFill>
                <a:highlight>
                  <a:srgbClr val="C4C7C5"/>
                </a:highlight>
                <a:latin typeface="Courier New"/>
                <a:ea typeface="Courier New"/>
                <a:cs typeface="Courier New"/>
                <a:sym typeface="Courier New"/>
              </a:rPr>
              <a:t>&lt;html&gt;</a:t>
            </a:r>
            <a:r>
              <a:rPr b="1" lang="pt-BR" sz="1800">
                <a:solidFill>
                  <a:srgbClr val="303030"/>
                </a:solidFill>
                <a:highlight>
                  <a:srgbClr val="FFFFFF"/>
                </a:highlight>
              </a:rPr>
              <a:t>:</a:t>
            </a:r>
            <a:r>
              <a:rPr lang="pt-BR" sz="1800">
                <a:solidFill>
                  <a:srgbClr val="303030"/>
                </a:solidFill>
                <a:highlight>
                  <a:srgbClr val="FFFFFF"/>
                </a:highlight>
              </a:rPr>
              <a:t> O elemento raiz que envolve todo o conteúdo da página.</a:t>
            </a:r>
            <a:endParaRPr sz="1800">
              <a:solidFill>
                <a:schemeClr val="dk2"/>
              </a:solidFill>
            </a:endParaRPr>
          </a:p>
        </p:txBody>
      </p:sp>
      <p:sp>
        <p:nvSpPr>
          <p:cNvPr id="162" name="Google Shape;162;p20"/>
          <p:cNvSpPr/>
          <p:nvPr/>
        </p:nvSpPr>
        <p:spPr>
          <a:xfrm rot="5400000">
            <a:off x="366900" y="293377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63" name="Google Shape;163;p20"/>
          <p:cNvSpPr txBox="1"/>
          <p:nvPr/>
        </p:nvSpPr>
        <p:spPr>
          <a:xfrm>
            <a:off x="778800" y="2988825"/>
            <a:ext cx="7586400" cy="101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b="1" lang="pt-BR" sz="1800">
                <a:solidFill>
                  <a:srgbClr val="282A2C"/>
                </a:solidFill>
                <a:highlight>
                  <a:srgbClr val="C4C7C5"/>
                </a:highlight>
                <a:latin typeface="Courier New"/>
                <a:ea typeface="Courier New"/>
                <a:cs typeface="Courier New"/>
                <a:sym typeface="Courier New"/>
              </a:rPr>
              <a:t>&lt;head&gt;</a:t>
            </a:r>
            <a:r>
              <a:rPr b="1" lang="pt-BR" sz="1800">
                <a:solidFill>
                  <a:srgbClr val="303030"/>
                </a:solidFill>
                <a:highlight>
                  <a:srgbClr val="FFFFFF"/>
                </a:highlight>
              </a:rPr>
              <a:t>:</a:t>
            </a:r>
            <a:r>
              <a:rPr lang="pt-BR" sz="1800">
                <a:solidFill>
                  <a:srgbClr val="303030"/>
                </a:solidFill>
                <a:highlight>
                  <a:srgbClr val="FFFFFF"/>
                </a:highlight>
              </a:rPr>
              <a:t> Um "recipiente" para metadados (informações que não aparecem para o usuário), como o título da aba (</a:t>
            </a:r>
            <a:r>
              <a:rPr lang="pt-BR" sz="1800">
                <a:solidFill>
                  <a:srgbClr val="282A2C"/>
                </a:solidFill>
                <a:highlight>
                  <a:srgbClr val="C4C7C5"/>
                </a:highlight>
                <a:latin typeface="Roboto Mono"/>
                <a:ea typeface="Roboto Mono"/>
                <a:cs typeface="Roboto Mono"/>
                <a:sym typeface="Roboto Mono"/>
              </a:rPr>
              <a:t>&lt;title&gt;</a:t>
            </a:r>
            <a:r>
              <a:rPr lang="pt-BR" sz="1800">
                <a:solidFill>
                  <a:srgbClr val="303030"/>
                </a:solidFill>
                <a:highlight>
                  <a:srgbClr val="FFFFFF"/>
                </a:highlight>
              </a:rPr>
              <a:t>), links para estilos CSS e a definição de caracteres (</a:t>
            </a:r>
            <a:r>
              <a:rPr lang="pt-BR" sz="1800">
                <a:solidFill>
                  <a:srgbClr val="282A2C"/>
                </a:solidFill>
                <a:highlight>
                  <a:srgbClr val="C4C7C5"/>
                </a:highlight>
                <a:latin typeface="Roboto Mono"/>
                <a:ea typeface="Roboto Mono"/>
                <a:cs typeface="Roboto Mono"/>
                <a:sym typeface="Roboto Mono"/>
              </a:rPr>
              <a:t>&lt;meta charset="utf-8"&gt;</a:t>
            </a:r>
            <a:r>
              <a:rPr lang="pt-BR" sz="1800">
                <a:solidFill>
                  <a:srgbClr val="303030"/>
                </a:solidFill>
                <a:highlight>
                  <a:srgbClr val="FFFFFF"/>
                </a:highlight>
              </a:rPr>
              <a:t>).</a:t>
            </a:r>
            <a:endParaRPr sz="1800">
              <a:solidFill>
                <a:schemeClr val="dk2"/>
              </a:solidFill>
            </a:endParaRPr>
          </a:p>
        </p:txBody>
      </p:sp>
      <p:sp>
        <p:nvSpPr>
          <p:cNvPr id="164" name="Google Shape;164;p20"/>
          <p:cNvSpPr/>
          <p:nvPr/>
        </p:nvSpPr>
        <p:spPr>
          <a:xfrm rot="5400000">
            <a:off x="366900" y="4172050"/>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65" name="Google Shape;165;p20"/>
          <p:cNvSpPr txBox="1"/>
          <p:nvPr/>
        </p:nvSpPr>
        <p:spPr>
          <a:xfrm>
            <a:off x="778800" y="4227100"/>
            <a:ext cx="7547700" cy="73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282A2C"/>
                </a:solidFill>
                <a:highlight>
                  <a:srgbClr val="C4C7C5"/>
                </a:highlight>
                <a:latin typeface="Courier New"/>
                <a:ea typeface="Courier New"/>
                <a:cs typeface="Courier New"/>
                <a:sym typeface="Courier New"/>
              </a:rPr>
              <a:t>&lt;body&gt;</a:t>
            </a:r>
            <a:r>
              <a:rPr b="1" lang="pt-BR" sz="1800">
                <a:solidFill>
                  <a:srgbClr val="303030"/>
                </a:solidFill>
                <a:highlight>
                  <a:srgbClr val="FFFFFF"/>
                </a:highlight>
              </a:rPr>
              <a:t>:</a:t>
            </a:r>
            <a:r>
              <a:rPr lang="pt-BR" sz="1800">
                <a:solidFill>
                  <a:srgbClr val="303030"/>
                </a:solidFill>
                <a:highlight>
                  <a:srgbClr val="FFFFFF"/>
                </a:highlight>
              </a:rPr>
              <a:t> Onde fica todo o </a:t>
            </a:r>
            <a:r>
              <a:rPr b="1" lang="pt-BR" sz="1800">
                <a:solidFill>
                  <a:srgbClr val="303030"/>
                </a:solidFill>
                <a:highlight>
                  <a:srgbClr val="FFFFFF"/>
                </a:highlight>
              </a:rPr>
              <a:t>conteúdo visível</a:t>
            </a:r>
            <a:r>
              <a:rPr lang="pt-BR" sz="1800">
                <a:solidFill>
                  <a:srgbClr val="303030"/>
                </a:solidFill>
                <a:highlight>
                  <a:srgbClr val="FFFFFF"/>
                </a:highlight>
              </a:rPr>
              <a:t> ao público, como vídeos, textos e imagens.</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ph type="title"/>
          </p:nvPr>
        </p:nvSpPr>
        <p:spPr>
          <a:xfrm>
            <a:off x="3015900" y="41350"/>
            <a:ext cx="3112200" cy="416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pt-BR" sz="2000">
                <a:solidFill>
                  <a:srgbClr val="303030"/>
                </a:solidFill>
                <a:highlight>
                  <a:srgbClr val="FFFFFF"/>
                </a:highlight>
              </a:rPr>
              <a:t>Aninhamento e Hierarquia</a:t>
            </a:r>
            <a:endParaRPr sz="2000"/>
          </a:p>
        </p:txBody>
      </p:sp>
      <p:sp>
        <p:nvSpPr>
          <p:cNvPr id="171" name="Google Shape;171;p21"/>
          <p:cNvSpPr txBox="1"/>
          <p:nvPr/>
        </p:nvSpPr>
        <p:spPr>
          <a:xfrm>
            <a:off x="584725" y="781950"/>
            <a:ext cx="8225400" cy="156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303030"/>
                </a:solidFill>
                <a:highlight>
                  <a:srgbClr val="FFFFFF"/>
                </a:highlight>
              </a:rPr>
              <a:t>O HTML permite colocar elementos dentro de outros, processo chamado de </a:t>
            </a:r>
            <a:r>
              <a:rPr b="1" lang="pt-BR" sz="1800">
                <a:solidFill>
                  <a:srgbClr val="303030"/>
                </a:solidFill>
                <a:highlight>
                  <a:srgbClr val="FFFFFF"/>
                </a:highlight>
              </a:rPr>
              <a:t>aninhamento</a:t>
            </a:r>
            <a:r>
              <a:rPr lang="pt-BR" sz="1800">
                <a:solidFill>
                  <a:srgbClr val="303030"/>
                </a:solidFill>
                <a:highlight>
                  <a:srgbClr val="FFFFFF"/>
                </a:highlight>
              </a:rPr>
              <a:t>. Por exemplo, você pode envolver uma palavra dentro de um parágrafo com a tag </a:t>
            </a:r>
            <a:r>
              <a:rPr lang="pt-BR" sz="1800">
                <a:solidFill>
                  <a:srgbClr val="282A2C"/>
                </a:solidFill>
                <a:highlight>
                  <a:srgbClr val="C4C7C5"/>
                </a:highlight>
                <a:latin typeface="Roboto Mono"/>
                <a:ea typeface="Roboto Mono"/>
                <a:cs typeface="Roboto Mono"/>
                <a:sym typeface="Roboto Mono"/>
              </a:rPr>
              <a:t>&lt;strong&gt;</a:t>
            </a:r>
            <a:r>
              <a:rPr lang="pt-BR" sz="1800">
                <a:solidFill>
                  <a:srgbClr val="303030"/>
                </a:solidFill>
                <a:highlight>
                  <a:srgbClr val="FFFFFF"/>
                </a:highlight>
              </a:rPr>
              <a:t> para dar ênfase. A regra fundamental é que os elementos devem ser fechados na ordem inversa em que foram abertos para evitar resultados inesperados.</a:t>
            </a:r>
            <a:endParaRPr sz="1800">
              <a:solidFill>
                <a:schemeClr val="dk2"/>
              </a:solidFill>
            </a:endParaRPr>
          </a:p>
        </p:txBody>
      </p:sp>
      <p:sp>
        <p:nvSpPr>
          <p:cNvPr id="172" name="Google Shape;172;p21"/>
          <p:cNvSpPr/>
          <p:nvPr/>
        </p:nvSpPr>
        <p:spPr>
          <a:xfrm rot="5400000">
            <a:off x="187350" y="726900"/>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73" name="Google Shape;173;p21"/>
          <p:cNvSpPr/>
          <p:nvPr/>
        </p:nvSpPr>
        <p:spPr>
          <a:xfrm rot="5400000">
            <a:off x="187350" y="2911375"/>
            <a:ext cx="267900" cy="378000"/>
          </a:xfrm>
          <a:prstGeom prst="bentUpArrow">
            <a:avLst>
              <a:gd fmla="val 25000" name="adj1"/>
              <a:gd fmla="val 25000" name="adj2"/>
              <a:gd fmla="val 26639"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74" name="Google Shape;174;p21"/>
          <p:cNvSpPr txBox="1"/>
          <p:nvPr>
            <p:ph type="title"/>
          </p:nvPr>
        </p:nvSpPr>
        <p:spPr>
          <a:xfrm>
            <a:off x="2556600" y="2481375"/>
            <a:ext cx="4030800" cy="416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i="1" lang="pt-BR" sz="2000">
                <a:solidFill>
                  <a:schemeClr val="dk1"/>
                </a:solidFill>
                <a:highlight>
                  <a:srgbClr val="FFFFFF"/>
                </a:highlight>
              </a:rPr>
              <a:t>Integração com outras Tecnologias</a:t>
            </a:r>
            <a:endParaRPr i="1" sz="2000">
              <a:solidFill>
                <a:schemeClr val="dk1"/>
              </a:solidFill>
            </a:endParaRPr>
          </a:p>
        </p:txBody>
      </p:sp>
      <p:sp>
        <p:nvSpPr>
          <p:cNvPr id="175" name="Google Shape;175;p21"/>
          <p:cNvSpPr txBox="1"/>
          <p:nvPr/>
        </p:nvSpPr>
        <p:spPr>
          <a:xfrm>
            <a:off x="606900" y="3027600"/>
            <a:ext cx="7930200" cy="156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lang="pt-BR" sz="1800">
                <a:solidFill>
                  <a:srgbClr val="303030"/>
                </a:solidFill>
                <a:highlight>
                  <a:srgbClr val="FFFFFF"/>
                </a:highlight>
              </a:rPr>
              <a:t>O HTML não trabalha sozinho. Ele define a </a:t>
            </a:r>
            <a:r>
              <a:rPr b="1" lang="pt-BR" sz="1800">
                <a:solidFill>
                  <a:srgbClr val="303030"/>
                </a:solidFill>
                <a:highlight>
                  <a:srgbClr val="FFFFFF"/>
                </a:highlight>
              </a:rPr>
              <a:t>estrutura</a:t>
            </a:r>
            <a:r>
              <a:rPr lang="pt-BR" sz="1800">
                <a:solidFill>
                  <a:srgbClr val="303030"/>
                </a:solidFill>
                <a:highlight>
                  <a:srgbClr val="FFFFFF"/>
                </a:highlight>
              </a:rPr>
              <a:t>, enquanto o </a:t>
            </a:r>
            <a:r>
              <a:rPr b="1" lang="pt-BR" sz="1800">
                <a:solidFill>
                  <a:srgbClr val="303030"/>
                </a:solidFill>
                <a:highlight>
                  <a:srgbClr val="FFFFFF"/>
                </a:highlight>
              </a:rPr>
              <a:t>CSS</a:t>
            </a:r>
            <a:r>
              <a:rPr lang="pt-BR" sz="1800">
                <a:solidFill>
                  <a:srgbClr val="303030"/>
                </a:solidFill>
                <a:highlight>
                  <a:srgbClr val="FFFFFF"/>
                </a:highlight>
              </a:rPr>
              <a:t> cuida da estética (cores, layouts) e o </a:t>
            </a:r>
            <a:r>
              <a:rPr b="1" lang="pt-BR" sz="1800">
                <a:solidFill>
                  <a:srgbClr val="303030"/>
                </a:solidFill>
                <a:highlight>
                  <a:srgbClr val="FFFFFF"/>
                </a:highlight>
              </a:rPr>
              <a:t>JavaScript</a:t>
            </a:r>
            <a:r>
              <a:rPr lang="pt-BR" sz="1800">
                <a:solidFill>
                  <a:srgbClr val="303030"/>
                </a:solidFill>
                <a:highlight>
                  <a:srgbClr val="FFFFFF"/>
                </a:highlight>
              </a:rPr>
              <a:t> adiciona comportamentos dinâmicos e interatividade (como animações ou cálculos em formulários). Para isso, o HTML fornece elementos como </a:t>
            </a:r>
            <a:r>
              <a:rPr lang="pt-BR" sz="1800">
                <a:solidFill>
                  <a:srgbClr val="282A2C"/>
                </a:solidFill>
                <a:highlight>
                  <a:srgbClr val="C4C7C5"/>
                </a:highlight>
                <a:latin typeface="Roboto Mono"/>
                <a:ea typeface="Roboto Mono"/>
                <a:cs typeface="Roboto Mono"/>
                <a:sym typeface="Roboto Mono"/>
              </a:rPr>
              <a:t>&lt;style&gt;</a:t>
            </a:r>
            <a:r>
              <a:rPr lang="pt-BR" sz="1800">
                <a:solidFill>
                  <a:srgbClr val="303030"/>
                </a:solidFill>
                <a:highlight>
                  <a:srgbClr val="FFFFFF"/>
                </a:highlight>
              </a:rPr>
              <a:t> para CSS e </a:t>
            </a:r>
            <a:r>
              <a:rPr lang="pt-BR" sz="1800">
                <a:solidFill>
                  <a:srgbClr val="282A2C"/>
                </a:solidFill>
                <a:highlight>
                  <a:srgbClr val="C4C7C5"/>
                </a:highlight>
                <a:latin typeface="Roboto Mono"/>
                <a:ea typeface="Roboto Mono"/>
                <a:cs typeface="Roboto Mono"/>
                <a:sym typeface="Roboto Mono"/>
              </a:rPr>
              <a:t>&lt;script&gt;</a:t>
            </a:r>
            <a:r>
              <a:rPr lang="pt-BR" sz="1800">
                <a:solidFill>
                  <a:srgbClr val="303030"/>
                </a:solidFill>
                <a:highlight>
                  <a:srgbClr val="FFFFFF"/>
                </a:highlight>
              </a:rPr>
              <a:t> para JavaScript.</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2"/>
          <p:cNvSpPr/>
          <p:nvPr/>
        </p:nvSpPr>
        <p:spPr>
          <a:xfrm rot="5400000">
            <a:off x="262975" y="1046050"/>
            <a:ext cx="267900" cy="378000"/>
          </a:xfrm>
          <a:prstGeom prst="bentUpArrow">
            <a:avLst>
              <a:gd fmla="val 25000" name="adj1"/>
              <a:gd fmla="val 25000" name="adj2"/>
              <a:gd fmla="val 34994"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
        <p:nvSpPr>
          <p:cNvPr id="181" name="Google Shape;181;p22"/>
          <p:cNvSpPr txBox="1"/>
          <p:nvPr/>
        </p:nvSpPr>
        <p:spPr>
          <a:xfrm>
            <a:off x="3072000" y="62750"/>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800">
                <a:solidFill>
                  <a:schemeClr val="dk1"/>
                </a:solidFill>
                <a:highlight>
                  <a:srgbClr val="FFFFFF"/>
                </a:highlight>
              </a:rPr>
              <a:t>HTML Semântico</a:t>
            </a:r>
            <a:endParaRPr b="1" sz="1800">
              <a:solidFill>
                <a:schemeClr val="dk1"/>
              </a:solidFill>
            </a:endParaRPr>
          </a:p>
        </p:txBody>
      </p:sp>
      <p:sp>
        <p:nvSpPr>
          <p:cNvPr id="182" name="Google Shape;182;p22"/>
          <p:cNvSpPr txBox="1"/>
          <p:nvPr/>
        </p:nvSpPr>
        <p:spPr>
          <a:xfrm>
            <a:off x="699300" y="1101100"/>
            <a:ext cx="7745400" cy="101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303030"/>
                </a:solidFill>
                <a:highlight>
                  <a:srgbClr val="FFFFFF"/>
                </a:highlight>
              </a:rPr>
              <a:t>Atualmente, o funcionamento do HTML é focado na </a:t>
            </a:r>
            <a:r>
              <a:rPr b="1" lang="pt-BR" sz="1800">
                <a:solidFill>
                  <a:srgbClr val="303030"/>
                </a:solidFill>
                <a:highlight>
                  <a:srgbClr val="FFFFFF"/>
                </a:highlight>
              </a:rPr>
              <a:t>semântica</a:t>
            </a:r>
            <a:r>
              <a:rPr lang="pt-BR" sz="1800">
                <a:solidFill>
                  <a:srgbClr val="303030"/>
                </a:solidFill>
                <a:highlight>
                  <a:srgbClr val="FFFFFF"/>
                </a:highlight>
              </a:rPr>
              <a:t>, que consiste em usar tags que descrevem claramente o </a:t>
            </a:r>
            <a:r>
              <a:rPr b="1" lang="pt-BR" sz="1800">
                <a:solidFill>
                  <a:srgbClr val="303030"/>
                </a:solidFill>
                <a:highlight>
                  <a:srgbClr val="FFFFFF"/>
                </a:highlight>
              </a:rPr>
              <a:t>significado</a:t>
            </a:r>
            <a:r>
              <a:rPr lang="pt-BR" sz="1800">
                <a:solidFill>
                  <a:srgbClr val="303030"/>
                </a:solidFill>
                <a:highlight>
                  <a:srgbClr val="FFFFFF"/>
                </a:highlight>
              </a:rPr>
              <a:t> do conteúdo.</a:t>
            </a:r>
            <a:endParaRPr sz="1800">
              <a:solidFill>
                <a:schemeClr val="dk2"/>
              </a:solidFill>
            </a:endParaRPr>
          </a:p>
        </p:txBody>
      </p:sp>
      <p:sp>
        <p:nvSpPr>
          <p:cNvPr id="183" name="Google Shape;183;p22"/>
          <p:cNvSpPr txBox="1"/>
          <p:nvPr/>
        </p:nvSpPr>
        <p:spPr>
          <a:xfrm>
            <a:off x="699300" y="2518325"/>
            <a:ext cx="7745400" cy="217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pt-BR" sz="1800">
                <a:solidFill>
                  <a:srgbClr val="303030"/>
                </a:solidFill>
                <a:highlight>
                  <a:srgbClr val="FFFFFF"/>
                </a:highlight>
              </a:rPr>
              <a:t>Em vez de usar apenas divisões genéricas (</a:t>
            </a:r>
            <a:r>
              <a:rPr lang="pt-BR" sz="1800">
                <a:solidFill>
                  <a:srgbClr val="282A2C"/>
                </a:solidFill>
                <a:highlight>
                  <a:srgbClr val="C4C7C5"/>
                </a:highlight>
                <a:latin typeface="Roboto Mono"/>
                <a:ea typeface="Roboto Mono"/>
                <a:cs typeface="Roboto Mono"/>
                <a:sym typeface="Roboto Mono"/>
              </a:rPr>
              <a:t>&lt;div&gt;</a:t>
            </a:r>
            <a:r>
              <a:rPr lang="pt-BR" sz="1800">
                <a:solidFill>
                  <a:srgbClr val="303030"/>
                </a:solidFill>
                <a:highlight>
                  <a:srgbClr val="FFFFFF"/>
                </a:highlight>
              </a:rPr>
              <a:t>), utilizam-se tags como </a:t>
            </a:r>
            <a:r>
              <a:rPr lang="pt-BR" sz="1800">
                <a:solidFill>
                  <a:srgbClr val="282A2C"/>
                </a:solidFill>
                <a:highlight>
                  <a:srgbClr val="C4C7C5"/>
                </a:highlight>
                <a:latin typeface="Roboto Mono"/>
                <a:ea typeface="Roboto Mono"/>
                <a:cs typeface="Roboto Mono"/>
                <a:sym typeface="Roboto Mono"/>
              </a:rPr>
              <a:t>&lt;header&gt;</a:t>
            </a:r>
            <a:r>
              <a:rPr lang="pt-BR" sz="1800">
                <a:solidFill>
                  <a:srgbClr val="303030"/>
                </a:solidFill>
                <a:highlight>
                  <a:srgbClr val="FFFFFF"/>
                </a:highlight>
              </a:rPr>
              <a:t> (cabeçalho), </a:t>
            </a:r>
            <a:r>
              <a:rPr lang="pt-BR" sz="1800">
                <a:solidFill>
                  <a:srgbClr val="282A2C"/>
                </a:solidFill>
                <a:highlight>
                  <a:srgbClr val="C4C7C5"/>
                </a:highlight>
                <a:latin typeface="Roboto Mono"/>
                <a:ea typeface="Roboto Mono"/>
                <a:cs typeface="Roboto Mono"/>
                <a:sym typeface="Roboto Mono"/>
              </a:rPr>
              <a:t>&lt;nav&gt;</a:t>
            </a:r>
            <a:r>
              <a:rPr lang="pt-BR" sz="1800">
                <a:solidFill>
                  <a:srgbClr val="303030"/>
                </a:solidFill>
                <a:highlight>
                  <a:srgbClr val="FFFFFF"/>
                </a:highlight>
              </a:rPr>
              <a:t> (navegação), </a:t>
            </a:r>
            <a:r>
              <a:rPr lang="pt-BR" sz="1800">
                <a:solidFill>
                  <a:srgbClr val="282A2C"/>
                </a:solidFill>
                <a:highlight>
                  <a:srgbClr val="C4C7C5"/>
                </a:highlight>
                <a:latin typeface="Roboto Mono"/>
                <a:ea typeface="Roboto Mono"/>
                <a:cs typeface="Roboto Mono"/>
                <a:sym typeface="Roboto Mono"/>
              </a:rPr>
              <a:t>&lt;main&gt;</a:t>
            </a:r>
            <a:r>
              <a:rPr lang="pt-BR" sz="1800">
                <a:solidFill>
                  <a:srgbClr val="303030"/>
                </a:solidFill>
                <a:highlight>
                  <a:srgbClr val="FFFFFF"/>
                </a:highlight>
              </a:rPr>
              <a:t> (conteúdo principal) e </a:t>
            </a:r>
            <a:r>
              <a:rPr lang="pt-BR" sz="1800">
                <a:solidFill>
                  <a:srgbClr val="282A2C"/>
                </a:solidFill>
                <a:highlight>
                  <a:srgbClr val="C4C7C5"/>
                </a:highlight>
                <a:latin typeface="Roboto Mono"/>
                <a:ea typeface="Roboto Mono"/>
                <a:cs typeface="Roboto Mono"/>
                <a:sym typeface="Roboto Mono"/>
              </a:rPr>
              <a:t>&lt;footer&gt;</a:t>
            </a:r>
            <a:r>
              <a:rPr lang="pt-BR" sz="1800">
                <a:solidFill>
                  <a:srgbClr val="303030"/>
                </a:solidFill>
                <a:highlight>
                  <a:srgbClr val="FFFFFF"/>
                </a:highlight>
              </a:rPr>
              <a:t> (rodapé). Isso melhora a </a:t>
            </a:r>
            <a:r>
              <a:rPr b="1" lang="pt-BR" sz="1800">
                <a:solidFill>
                  <a:srgbClr val="303030"/>
                </a:solidFill>
                <a:highlight>
                  <a:srgbClr val="FFFFFF"/>
                </a:highlight>
              </a:rPr>
              <a:t>acessibilidade</a:t>
            </a:r>
            <a:r>
              <a:rPr lang="pt-BR" sz="1800">
                <a:solidFill>
                  <a:srgbClr val="303030"/>
                </a:solidFill>
                <a:highlight>
                  <a:srgbClr val="FFFFFF"/>
                </a:highlight>
              </a:rPr>
              <a:t> para leitores de tela e ajuda os </a:t>
            </a:r>
            <a:r>
              <a:rPr b="1" lang="pt-BR" sz="1800">
                <a:solidFill>
                  <a:srgbClr val="303030"/>
                </a:solidFill>
                <a:highlight>
                  <a:srgbClr val="FFFFFF"/>
                </a:highlight>
              </a:rPr>
              <a:t>motores de busca</a:t>
            </a:r>
            <a:r>
              <a:rPr lang="pt-BR" sz="1800">
                <a:solidFill>
                  <a:srgbClr val="303030"/>
                </a:solidFill>
                <a:highlight>
                  <a:srgbClr val="FFFFFF"/>
                </a:highlight>
              </a:rPr>
              <a:t> (como o Google).</a:t>
            </a:r>
            <a:endParaRPr sz="1800">
              <a:solidFill>
                <a:srgbClr val="303030"/>
              </a:solidFill>
              <a:highlight>
                <a:srgbClr val="FFFFFF"/>
              </a:highlight>
            </a:endParaRPr>
          </a:p>
          <a:p>
            <a:pPr indent="0" lvl="0" marL="0" rtl="0" algn="l">
              <a:spcBef>
                <a:spcPts val="900"/>
              </a:spcBef>
              <a:spcAft>
                <a:spcPts val="0"/>
              </a:spcAft>
              <a:buNone/>
            </a:pPr>
            <a:r>
              <a:t/>
            </a:r>
            <a:endParaRPr sz="1800">
              <a:solidFill>
                <a:schemeClr val="dk2"/>
              </a:solidFill>
            </a:endParaRPr>
          </a:p>
        </p:txBody>
      </p:sp>
      <p:sp>
        <p:nvSpPr>
          <p:cNvPr id="184" name="Google Shape;184;p22"/>
          <p:cNvSpPr/>
          <p:nvPr/>
        </p:nvSpPr>
        <p:spPr>
          <a:xfrm rot="5400000">
            <a:off x="262975" y="2463275"/>
            <a:ext cx="267900" cy="378000"/>
          </a:xfrm>
          <a:prstGeom prst="bentUpArrow">
            <a:avLst>
              <a:gd fmla="val 25000" name="adj1"/>
              <a:gd fmla="val 25000" name="adj2"/>
              <a:gd fmla="val 34994"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2714250" y="0"/>
            <a:ext cx="3715500" cy="491100"/>
          </a:xfrm>
          <a:prstGeom prst="rect">
            <a:avLst/>
          </a:prstGeom>
          <a:no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solidFill>
                  <a:schemeClr val="dk1"/>
                </a:solidFill>
              </a:rPr>
              <a:t>Exemplo de Elemento</a:t>
            </a:r>
            <a:endParaRPr>
              <a:solidFill>
                <a:schemeClr val="dk1"/>
              </a:solidFill>
            </a:endParaRPr>
          </a:p>
        </p:txBody>
      </p:sp>
      <p:sp>
        <p:nvSpPr>
          <p:cNvPr id="190" name="Google Shape;190;p23"/>
          <p:cNvSpPr txBox="1"/>
          <p:nvPr/>
        </p:nvSpPr>
        <p:spPr>
          <a:xfrm>
            <a:off x="729450" y="1342275"/>
            <a:ext cx="7880400" cy="2640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&lt;div&gt;</a:t>
            </a:r>
            <a:endParaRPr b="1" sz="1800">
              <a:solidFill>
                <a:schemeClr val="dk2"/>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1"/>
                </a:solidFill>
                <a:highlight>
                  <a:schemeClr val="lt1"/>
                </a:highlight>
                <a:latin typeface="Courier New"/>
                <a:ea typeface="Courier New"/>
                <a:cs typeface="Courier New"/>
                <a:sym typeface="Courier New"/>
              </a:rPr>
              <a:t>#A função dos “H” e para retratar um texto ou </a:t>
            </a:r>
            <a:r>
              <a:rPr b="1" lang="pt-BR" sz="1800">
                <a:solidFill>
                  <a:schemeClr val="dk1"/>
                </a:solidFill>
                <a:highlight>
                  <a:schemeClr val="lt1"/>
                </a:highlight>
                <a:latin typeface="Courier New"/>
                <a:ea typeface="Courier New"/>
                <a:cs typeface="Courier New"/>
                <a:sym typeface="Courier New"/>
              </a:rPr>
              <a:t>título</a:t>
            </a:r>
            <a:endParaRPr b="1" sz="180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 </a:t>
            </a:r>
            <a:r>
              <a:rPr b="1" lang="pt-BR" sz="1800">
                <a:solidFill>
                  <a:schemeClr val="dk2"/>
                </a:solidFill>
                <a:highlight>
                  <a:schemeClr val="lt1"/>
                </a:highlight>
                <a:latin typeface="Courier New"/>
                <a:ea typeface="Courier New"/>
                <a:cs typeface="Courier New"/>
                <a:sym typeface="Courier New"/>
              </a:rPr>
              <a:t>&lt;h1&gt;Título Principal&lt;/h1&gt;</a:t>
            </a:r>
            <a:endParaRPr b="1" sz="1800">
              <a:solidFill>
                <a:schemeClr val="dk2"/>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1"/>
                </a:solidFill>
                <a:highlight>
                  <a:schemeClr val="lt1"/>
                </a:highlight>
                <a:latin typeface="Courier New"/>
                <a:ea typeface="Courier New"/>
                <a:cs typeface="Courier New"/>
                <a:sym typeface="Courier New"/>
              </a:rPr>
              <a:t>#O “P” e para formar o </a:t>
            </a:r>
            <a:r>
              <a:rPr b="1" lang="pt-BR" sz="1800">
                <a:solidFill>
                  <a:schemeClr val="dk1"/>
                </a:solidFill>
                <a:highlight>
                  <a:schemeClr val="lt1"/>
                </a:highlight>
                <a:latin typeface="Courier New"/>
                <a:ea typeface="Courier New"/>
                <a:cs typeface="Courier New"/>
                <a:sym typeface="Courier New"/>
              </a:rPr>
              <a:t>parágrafo</a:t>
            </a:r>
            <a:r>
              <a:rPr b="1" lang="pt-BR" sz="1800">
                <a:solidFill>
                  <a:schemeClr val="dk1"/>
                </a:solidFill>
                <a:highlight>
                  <a:schemeClr val="lt1"/>
                </a:highlight>
                <a:latin typeface="Courier New"/>
                <a:ea typeface="Courier New"/>
                <a:cs typeface="Courier New"/>
                <a:sym typeface="Courier New"/>
              </a:rPr>
              <a:t> do texto</a:t>
            </a:r>
            <a:endParaRPr b="1" sz="1800">
              <a:solidFill>
                <a:schemeClr val="dk1"/>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 &lt;p&gt;Este é um parágrafo com um &lt;a href="#"&gt;link&lt;/a&gt;.&lt;/p&gt;</a:t>
            </a:r>
            <a:endParaRPr b="1" sz="1800">
              <a:solidFill>
                <a:schemeClr val="dk2"/>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&lt;/div&gt;</a:t>
            </a:r>
            <a:endParaRPr b="1" sz="1800">
              <a:solidFill>
                <a:schemeClr val="dk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sz="1300">
              <a:solidFill>
                <a:schemeClr val="accent1"/>
              </a:solidFill>
              <a:highlight>
                <a:schemeClr val="lt1"/>
              </a:highlight>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2665050" y="0"/>
            <a:ext cx="3813900" cy="483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solidFill>
                  <a:schemeClr val="dk1"/>
                </a:solidFill>
              </a:rPr>
              <a:t>Exemplo de Hipertexto</a:t>
            </a:r>
            <a:endParaRPr>
              <a:solidFill>
                <a:schemeClr val="dk1"/>
              </a:solidFill>
            </a:endParaRPr>
          </a:p>
        </p:txBody>
      </p:sp>
      <p:sp>
        <p:nvSpPr>
          <p:cNvPr id="196" name="Google Shape;196;p24"/>
          <p:cNvSpPr txBox="1"/>
          <p:nvPr/>
        </p:nvSpPr>
        <p:spPr>
          <a:xfrm>
            <a:off x="1335000" y="1322725"/>
            <a:ext cx="6474000" cy="15129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pt-BR" sz="1800">
                <a:solidFill>
                  <a:schemeClr val="dk1"/>
                </a:solidFill>
                <a:highlight>
                  <a:schemeClr val="lt1"/>
                </a:highlight>
                <a:latin typeface="Courier New"/>
                <a:ea typeface="Courier New"/>
                <a:cs typeface="Courier New"/>
                <a:sym typeface="Courier New"/>
              </a:rPr>
              <a:t>#Exemlpo de Hipertexto em função de links </a:t>
            </a:r>
            <a:r>
              <a:rPr b="1" lang="pt-BR" sz="1800">
                <a:solidFill>
                  <a:schemeClr val="dk2"/>
                </a:solidFill>
                <a:highlight>
                  <a:schemeClr val="lt1"/>
                </a:highlight>
                <a:latin typeface="Courier New"/>
                <a:ea typeface="Courier New"/>
                <a:cs typeface="Courier New"/>
                <a:sym typeface="Courier New"/>
              </a:rPr>
              <a:t>&lt;p&gt;Visite o site do &lt;a href="https://www.google.com"&gt;Google&lt;/a&gt;.&lt;/p&gt;</a:t>
            </a:r>
            <a:endParaRPr b="1" sz="1800">
              <a:solidFill>
                <a:schemeClr val="dk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txBox="1"/>
          <p:nvPr>
            <p:ph type="title"/>
          </p:nvPr>
        </p:nvSpPr>
        <p:spPr>
          <a:xfrm>
            <a:off x="2826300" y="0"/>
            <a:ext cx="3491400" cy="491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solidFill>
                  <a:schemeClr val="dk1"/>
                </a:solidFill>
              </a:rPr>
              <a:t>Exemplo de </a:t>
            </a:r>
            <a:r>
              <a:rPr lang="pt-BR">
                <a:solidFill>
                  <a:schemeClr val="dk1"/>
                </a:solidFill>
              </a:rPr>
              <a:t>Semântica</a:t>
            </a:r>
            <a:endParaRPr>
              <a:solidFill>
                <a:schemeClr val="dk1"/>
              </a:solidFill>
            </a:endParaRPr>
          </a:p>
        </p:txBody>
      </p:sp>
      <p:sp>
        <p:nvSpPr>
          <p:cNvPr id="202" name="Google Shape;202;p25"/>
          <p:cNvSpPr txBox="1"/>
          <p:nvPr/>
        </p:nvSpPr>
        <p:spPr>
          <a:xfrm>
            <a:off x="968250" y="1241575"/>
            <a:ext cx="7207500" cy="28476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139700" rtl="0" algn="l">
              <a:lnSpc>
                <a:spcPct val="150000"/>
              </a:lnSpc>
              <a:spcBef>
                <a:spcPts val="600"/>
              </a:spcBef>
              <a:spcAft>
                <a:spcPts val="0"/>
              </a:spcAft>
              <a:buNone/>
            </a:pPr>
            <a:r>
              <a:rPr b="1" lang="pt-BR" sz="1800">
                <a:solidFill>
                  <a:schemeClr val="dk1"/>
                </a:solidFill>
                <a:latin typeface="Courier New"/>
                <a:ea typeface="Courier New"/>
                <a:cs typeface="Courier New"/>
                <a:sym typeface="Courier New"/>
              </a:rPr>
              <a:t>#E usado para dar o </a:t>
            </a:r>
            <a:r>
              <a:rPr b="1" lang="pt-BR" sz="1800">
                <a:solidFill>
                  <a:schemeClr val="dk1"/>
                </a:solidFill>
                <a:latin typeface="Courier New"/>
                <a:ea typeface="Courier New"/>
                <a:cs typeface="Courier New"/>
                <a:sym typeface="Courier New"/>
              </a:rPr>
              <a:t>Título</a:t>
            </a:r>
            <a:r>
              <a:rPr b="1" lang="pt-BR" sz="1800">
                <a:solidFill>
                  <a:schemeClr val="dk1"/>
                </a:solidFill>
                <a:latin typeface="Courier New"/>
                <a:ea typeface="Courier New"/>
                <a:cs typeface="Courier New"/>
                <a:sym typeface="Courier New"/>
              </a:rPr>
              <a:t> e </a:t>
            </a:r>
            <a:r>
              <a:rPr b="1" lang="pt-BR" sz="1800">
                <a:solidFill>
                  <a:schemeClr val="dk1"/>
                </a:solidFill>
                <a:latin typeface="Courier New"/>
                <a:ea typeface="Courier New"/>
                <a:cs typeface="Courier New"/>
                <a:sym typeface="Courier New"/>
              </a:rPr>
              <a:t>Subtítulo</a:t>
            </a:r>
            <a:r>
              <a:rPr b="1" lang="pt-BR" sz="1800">
                <a:solidFill>
                  <a:schemeClr val="dk1"/>
                </a:solidFill>
                <a:latin typeface="Courier New"/>
                <a:ea typeface="Courier New"/>
                <a:cs typeface="Courier New"/>
                <a:sym typeface="Courier New"/>
              </a:rPr>
              <a:t> da página </a:t>
            </a:r>
            <a:endParaRPr b="1" sz="1800">
              <a:solidFill>
                <a:schemeClr val="dk1"/>
              </a:solidFill>
              <a:latin typeface="Courier New"/>
              <a:ea typeface="Courier New"/>
              <a:cs typeface="Courier New"/>
              <a:sym typeface="Courier New"/>
            </a:endParaRPr>
          </a:p>
          <a:p>
            <a:pPr indent="0" lvl="0" marL="0" marR="139700" rtl="0" algn="l">
              <a:lnSpc>
                <a:spcPct val="150000"/>
              </a:lnSpc>
              <a:spcBef>
                <a:spcPts val="600"/>
              </a:spcBef>
              <a:spcAft>
                <a:spcPts val="0"/>
              </a:spcAft>
              <a:buNone/>
            </a:pPr>
            <a:r>
              <a:rPr b="1" lang="pt-BR" sz="1800">
                <a:solidFill>
                  <a:schemeClr val="dk2"/>
                </a:solidFill>
                <a:latin typeface="Courier New"/>
                <a:ea typeface="Courier New"/>
                <a:cs typeface="Courier New"/>
                <a:sym typeface="Courier New"/>
              </a:rPr>
              <a:t>&lt;header&gt;</a:t>
            </a:r>
            <a:endParaRPr b="1" sz="1800">
              <a:solidFill>
                <a:schemeClr val="dk2"/>
              </a:solidFill>
              <a:latin typeface="Courier New"/>
              <a:ea typeface="Courier New"/>
              <a:cs typeface="Courier New"/>
              <a:sym typeface="Courier New"/>
            </a:endParaRPr>
          </a:p>
          <a:p>
            <a:pPr indent="0" lvl="0" marL="0" marR="139700" rtl="0" algn="l">
              <a:lnSpc>
                <a:spcPct val="150000"/>
              </a:lnSpc>
              <a:spcBef>
                <a:spcPts val="600"/>
              </a:spcBef>
              <a:spcAft>
                <a:spcPts val="0"/>
              </a:spcAft>
              <a:buNone/>
            </a:pPr>
            <a:r>
              <a:rPr b="1" lang="pt-BR" sz="1800">
                <a:solidFill>
                  <a:schemeClr val="dk2"/>
                </a:solidFill>
                <a:latin typeface="Courier New"/>
                <a:ea typeface="Courier New"/>
                <a:cs typeface="Courier New"/>
                <a:sym typeface="Courier New"/>
              </a:rPr>
              <a:t> &lt;h1&gt;Título da página&lt;/h1&gt; </a:t>
            </a:r>
            <a:endParaRPr b="1" sz="1800">
              <a:solidFill>
                <a:schemeClr val="dk2"/>
              </a:solidFill>
              <a:latin typeface="Courier New"/>
              <a:ea typeface="Courier New"/>
              <a:cs typeface="Courier New"/>
              <a:sym typeface="Courier New"/>
            </a:endParaRPr>
          </a:p>
          <a:p>
            <a:pPr indent="0" lvl="0" marL="0" marR="139700" rtl="0" algn="l">
              <a:lnSpc>
                <a:spcPct val="150000"/>
              </a:lnSpc>
              <a:spcBef>
                <a:spcPts val="600"/>
              </a:spcBef>
              <a:spcAft>
                <a:spcPts val="0"/>
              </a:spcAft>
              <a:buNone/>
            </a:pPr>
            <a:r>
              <a:rPr b="1" lang="pt-BR" sz="1800">
                <a:solidFill>
                  <a:schemeClr val="dk2"/>
                </a:solidFill>
                <a:latin typeface="Courier New"/>
                <a:ea typeface="Courier New"/>
                <a:cs typeface="Courier New"/>
                <a:sym typeface="Courier New"/>
              </a:rPr>
              <a:t> &lt;h2&gt;Subtítulo da página&lt;/h2&gt;</a:t>
            </a:r>
            <a:endParaRPr b="1" sz="1800">
              <a:solidFill>
                <a:schemeClr val="dk2"/>
              </a:solidFill>
              <a:latin typeface="Courier New"/>
              <a:ea typeface="Courier New"/>
              <a:cs typeface="Courier New"/>
              <a:sym typeface="Courier New"/>
            </a:endParaRPr>
          </a:p>
          <a:p>
            <a:pPr indent="0" lvl="0" marL="0" marR="139700" rtl="0" algn="l">
              <a:lnSpc>
                <a:spcPct val="150000"/>
              </a:lnSpc>
              <a:spcBef>
                <a:spcPts val="600"/>
              </a:spcBef>
              <a:spcAft>
                <a:spcPts val="0"/>
              </a:spcAft>
              <a:buNone/>
            </a:pPr>
            <a:r>
              <a:rPr b="1" lang="pt-BR" sz="1800">
                <a:solidFill>
                  <a:schemeClr val="dk2"/>
                </a:solidFill>
                <a:latin typeface="Courier New"/>
                <a:ea typeface="Courier New"/>
                <a:cs typeface="Courier New"/>
                <a:sym typeface="Courier New"/>
              </a:rPr>
              <a:t>&lt;/header&gt;</a:t>
            </a:r>
            <a:endParaRPr b="1" sz="1800">
              <a:solidFill>
                <a:schemeClr val="dk2"/>
              </a:solidFill>
              <a:latin typeface="Courier New"/>
              <a:ea typeface="Courier New"/>
              <a:cs typeface="Courier New"/>
              <a:sym typeface="Courier New"/>
            </a:endParaRPr>
          </a:p>
          <a:p>
            <a:pPr indent="0" lvl="0" marL="0" rtl="0" algn="l">
              <a:spcBef>
                <a:spcPts val="60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3272250" y="0"/>
            <a:ext cx="2811600" cy="4995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solidFill>
                  <a:schemeClr val="dk1"/>
                </a:solidFill>
              </a:rPr>
              <a:t>Exemplo de cores</a:t>
            </a:r>
            <a:endParaRPr>
              <a:solidFill>
                <a:schemeClr val="dk1"/>
              </a:solidFill>
            </a:endParaRPr>
          </a:p>
        </p:txBody>
      </p:sp>
      <p:sp>
        <p:nvSpPr>
          <p:cNvPr id="208" name="Google Shape;208;p26"/>
          <p:cNvSpPr txBox="1"/>
          <p:nvPr/>
        </p:nvSpPr>
        <p:spPr>
          <a:xfrm>
            <a:off x="729450" y="1331500"/>
            <a:ext cx="7897200" cy="3093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&lt;body&gt;</a:t>
            </a:r>
            <a:endParaRPr b="1" sz="1800">
              <a:solidFill>
                <a:schemeClr val="dk2"/>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    &lt;p style="color: red;"&gt;Este texto está vermelho.&lt;/p&gt;</a:t>
            </a:r>
            <a:endParaRPr b="1" sz="1800">
              <a:solidFill>
                <a:schemeClr val="dk2"/>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    &lt;p style="color: #00ff00;"&gt;Este texto está verde (hexadecimal).&lt;/p&gt;</a:t>
            </a:r>
            <a:endParaRPr b="1" sz="1800">
              <a:solidFill>
                <a:schemeClr val="dk2"/>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    &lt;p style="color: rgb(0, 0, 255);"&gt;Este texto está azul (RGB).&lt;/p&gt;</a:t>
            </a:r>
            <a:endParaRPr b="1" sz="1800">
              <a:solidFill>
                <a:schemeClr val="dk2"/>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&lt;/body&gt;</a:t>
            </a:r>
            <a:endParaRPr b="1" sz="1800">
              <a:solidFill>
                <a:schemeClr val="dk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pt-BR" sz="1800">
                <a:solidFill>
                  <a:schemeClr val="dk1"/>
                </a:solidFill>
                <a:highlight>
                  <a:schemeClr val="lt1"/>
                </a:highlight>
                <a:latin typeface="Lato"/>
                <a:ea typeface="Lato"/>
                <a:cs typeface="Lato"/>
                <a:sym typeface="Lato"/>
              </a:rPr>
              <a:t>#O style=”color, vai ser o comando pra poder usar as cores</a:t>
            </a:r>
            <a:endParaRPr b="1" sz="1800">
              <a:solidFill>
                <a:schemeClr val="dk1"/>
              </a:solidFill>
              <a:highlight>
                <a:schemeClr val="lt1"/>
              </a:highlight>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3285300" y="40000"/>
            <a:ext cx="2573400" cy="451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solidFill>
                  <a:schemeClr val="dk1"/>
                </a:solidFill>
              </a:rPr>
              <a:t>Exemplo navbar</a:t>
            </a:r>
            <a:endParaRPr>
              <a:solidFill>
                <a:schemeClr val="dk1"/>
              </a:solidFill>
            </a:endParaRPr>
          </a:p>
        </p:txBody>
      </p:sp>
      <p:sp>
        <p:nvSpPr>
          <p:cNvPr id="214" name="Google Shape;214;p27"/>
          <p:cNvSpPr txBox="1"/>
          <p:nvPr/>
        </p:nvSpPr>
        <p:spPr>
          <a:xfrm>
            <a:off x="1150950" y="1400850"/>
            <a:ext cx="6842100" cy="2341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&lt;nav&gt;&lt;ul&gt;&lt;li&gt; &lt;a       href="/home"&gt;Início&lt;/a&gt;&lt;/li&gt;&lt;li&gt; &lt;a href="/about"&gt;Sobre&lt;/a&gt; &lt;/li&gt;</a:t>
            </a:r>
            <a:endParaRPr b="1" sz="1800">
              <a:solidFill>
                <a:schemeClr val="dk2"/>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pt-BR" sz="1800">
                <a:solidFill>
                  <a:schemeClr val="dk2"/>
                </a:solidFill>
                <a:highlight>
                  <a:schemeClr val="lt1"/>
                </a:highlight>
                <a:latin typeface="Courier New"/>
                <a:ea typeface="Courier New"/>
                <a:cs typeface="Courier New"/>
                <a:sym typeface="Courier New"/>
              </a:rPr>
              <a:t>&lt;li&gt;&lt;a href="/contact"&gt;Contate-nos&lt;/a&gt; &lt;/li&gt;&lt;/ul&gt;&lt;/nav&gt;</a:t>
            </a:r>
            <a:endParaRPr b="1" sz="1800">
              <a:solidFill>
                <a:schemeClr val="dk2"/>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pt-BR" sz="1800">
                <a:solidFill>
                  <a:schemeClr val="dk1"/>
                </a:solidFill>
                <a:highlight>
                  <a:schemeClr val="lt1"/>
                </a:highlight>
                <a:latin typeface="Lato"/>
                <a:ea typeface="Lato"/>
                <a:cs typeface="Lato"/>
                <a:sym typeface="Lato"/>
              </a:rPr>
              <a:t>#Usamos essas tags para construir o navbar</a:t>
            </a:r>
            <a:endParaRPr b="1" sz="1800">
              <a:solidFill>
                <a:schemeClr val="dk1"/>
              </a:solidFill>
              <a:highlight>
                <a:schemeClr val="lt1"/>
              </a:highlight>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